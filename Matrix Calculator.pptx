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62" r:id="rId6"/>
    <p:sldId id="263" r:id="rId7"/>
    <p:sldId id="264" r:id="rId8"/>
    <p:sldId id="265" r:id="rId9"/>
    <p:sldId id="266" r:id="rId10"/>
    <p:sldId id="268" r:id="rId11"/>
    <p:sldId id="269" r:id="rId12"/>
    <p:sldId id="270" r:id="rId13"/>
    <p:sldId id="271" r:id="rId14"/>
    <p:sldId id="272" r:id="rId15"/>
    <p:sldId id="273" r:id="rId16"/>
    <p:sldId id="274" r:id="rId17"/>
    <p:sldId id="275" r:id="rId18"/>
    <p:sldId id="290" r:id="rId19"/>
    <p:sldId id="276" r:id="rId20"/>
    <p:sldId id="277" r:id="rId21"/>
    <p:sldId id="278" r:id="rId22"/>
    <p:sldId id="279" r:id="rId23"/>
    <p:sldId id="280" r:id="rId24"/>
    <p:sldId id="281" r:id="rId25"/>
    <p:sldId id="282" r:id="rId26"/>
    <p:sldId id="284" r:id="rId27"/>
    <p:sldId id="285" r:id="rId28"/>
    <p:sldId id="286" r:id="rId29"/>
    <p:sldId id="287" r:id="rId30"/>
    <p:sldId id="288" r:id="rId31"/>
    <p:sldId id="28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17:31.172"/>
    </inkml:context>
    <inkml:brush xml:id="br0">
      <inkml:brushProperty name="width" value="0.035" units="cm"/>
      <inkml:brushProperty name="height" value="0.035" units="cm"/>
    </inkml:brush>
  </inkml:definitions>
  <inkml:trace contextRef="#ctx0" brushRef="#br0">0 1 24575,'17'2'0,"0"1"0,0 1 0,-1 0 0,1 1 0,-1 1 0,18 9 0,-21-9 0,47 19 0,-1-2 0,-1 3 0,85 52 0,-55-26 0,-55-34 0,-1 2 0,37 29 0,-46-32 0,1-1 0,1-1 0,27 12 0,-24-13 0,-1 1 0,34 26 0,86 57 0,-146-98 0,11 8 0,-1 1 0,0 0 0,13 15 0,11 8 0,-32-29 0,10 8 0,1 0 0,-1 1 0,-1 0 0,20 27 0,-20-24 0,-1-2 0,2 1 0,0-2 0,1 0 0,0 0 0,16 9 0,21 19 0,-25-21 0,46 28 0,-5-4 0,-33-19 0,131 88 0,-142-95 0,0 1 0,0 1 0,35 39 0,9 8 0,52 47 0,-67-62 0,2-1 0,69 47 0,10-8 0,-104-67 0,32 32 0,-44-36 0,1-1 0,1-2 0,1 0 0,41 24 0,4-1 0,-46-26 0,0 0 0,30 12 0,-4-4 0,80 50 0,-13-6 0,307 152 0,-360-188 0,91 48 0,-131-66 0,1 0 0,-1-2 0,29 8 0,-25-9 0,-1 1 0,30 15 0,60 27 0,-42-21 0,-38-13 0,52 33 0,-76-45 0,0 0 0,0 0 0,1 0 0,0-1 0,-1-1 0,16 3 0,-14-3 0,0 1 0,0-1 0,0 2 0,14 6 0,35 19-1365,-50-23-5461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17:34.304"/>
    </inkml:context>
    <inkml:brush xml:id="br0">
      <inkml:brushProperty name="width" value="0.035" units="cm"/>
      <inkml:brushProperty name="height" value="0.035" units="cm"/>
    </inkml:brush>
  </inkml:definitions>
  <inkml:trace contextRef="#ctx0" brushRef="#br0">4087 0 24575,'-1'5'0,"-1"0"0,0-1 0,0 1 0,-1-1 0,1 0 0,-1 1 0,0-1 0,0 0 0,0-1 0,0 1 0,-7 5 0,4-2 0,-15 13 0,-1-1 0,-1 0 0,0-2 0,-2 0 0,-39 19 0,-11 1 0,52-27 0,1 1 0,0 1 0,0 1 0,1 1 0,-23 20 0,-35 32 0,-2-3 0,-140 82 0,199-131 0,-155 108 0,-39 28 0,182-128 0,-72 49 0,-42 51 0,-67 53 0,-250 216 0,287-246 0,42-36 0,124-99 0,-31 26 0,-45 50 0,66-63 0,-38 29 0,0 1 0,21-12 0,23-24 0,0 0 0,-31 23 0,36-31 0,1 1 0,0 0 0,1 0 0,-11 15 0,11-13 0,-1 0 0,0-1 0,-17 14 0,-38 35 0,50-45 0,-1 1 0,-1-2 0,-30 20 0,18-14 0,-28 24 0,34-26 0,-1 0 0,-29 16 0,19-15 0,0 2 0,1 1 0,-42 37 0,67-52 0,0-1 0,-1-1 0,0 1 0,0-1 0,-14 5 0,-30 17 0,-20 14 0,58-34 0,0 1 0,0 0 0,1 1 0,0 1 0,1 0 0,0 1 0,-20 21 0,24-22 0,-1-1 0,0 0 0,0 0 0,-1-1 0,0 0 0,-22 11 0,17-10 0,0 1 0,-23 19 0,10-3-1365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6:49.019"/>
    </inkml:context>
    <inkml:brush xml:id="br0">
      <inkml:brushProperty name="width" value="0.035" units="cm"/>
      <inkml:brushProperty name="height" value="0.035" units="cm"/>
    </inkml:brush>
  </inkml:definitions>
  <inkml:trace contextRef="#ctx0" brushRef="#br0">219 0 24575,'0'48'0,"-2"0"0,-13 78 0,-130 559 0,111-536 0,32-137 0,-1 0 0,0 0 0,0 0 0,-6 12 0,7-24 0,1-6 0,3-10 0,5 4 0,-1 0 0,2 0 0,-1 1 0,2 0 0,-1 0 0,2 1 0,-1 0 0,21-15 0,2-4 0,-23 20 0,1 1 0,0 0 0,1 1 0,0 0 0,0 1 0,23-9 0,77-20 0,-71 23 0,108-18 0,-98 22 0,55-16 0,172-52 0,-252 68 0,34-14 0,-51 19 0,0-1 0,0 0 0,-1 0 0,1-1 0,-1 0 0,0-1 0,12-12 0,-16 13 0,1-1 0,-1 1 0,-1-1 0,1 0 0,-1 0 0,0 0 0,0-1 0,-1 1 0,0 0 0,0-1 0,0-6 0,-1 4 0,1 0 0,-1 0 0,-1 1 0,0-1 0,0 0 0,-1 1 0,-4-15 0,4 19 0,0 0 0,0 0 0,-1 0 0,0 0 0,0 0 0,0 0 0,0 1 0,0-1 0,-1 1 0,0 0 0,1 0 0,-1 0 0,-5-2 0,-6-3 0,0 1 0,-24-7 0,-22-12 0,52 21 0,0 0 0,-1 0 0,1 1 0,-1 0 0,0 1 0,0 0 0,-11-2 0,19 5 0,0 0 0,-1-1 0,1 1 0,0 0 0,-1 1 0,1-1 0,0 0 0,-1 0 0,1 1 0,0 0 0,0-1 0,0 1 0,-1 0 0,1 0 0,0 0 0,0 0 0,0 0 0,1 1 0,-1-1 0,0 1 0,0-1 0,1 1 0,-1 0 0,1-1 0,-1 1 0,1 0 0,0 0 0,-1 0 0,1 0 0,0 0 0,1 0 0,-1 0 0,0 1 0,1-1 0,-1 0 0,1 0 0,-1 4 0,-2 25 0,0 0 0,3 0 0,4 46 0,-1 5 0,-3 681-1365,0-751-5461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6:56.178"/>
    </inkml:context>
    <inkml:brush xml:id="br0">
      <inkml:brushProperty name="width" value="0.035" units="cm"/>
      <inkml:brushProperty name="height" value="0.035" units="cm"/>
    </inkml:brush>
  </inkml:definitions>
  <inkml:trace contextRef="#ctx0" brushRef="#br0">1 33 24575,'299'-14'0,"3"0"0,-182 16 0,126-4 0,-226-1 0,-2 1 0,-18 3 0,0 0 0,0-1 0,0 1 0,0 0 0,0 0 0,0-1 0,0 1 0,0 0 0,0-1 0,0 1 0,0 0 0,0 0 0,0-1 0,-1 1 0,1 0 0,0-1 0,0 1 0,-1 0 0,1-1 0,-1 1 0,1-1 0,0 1 0,-1-1 0,1 1 0,-1 0 0,0 0 0,-35 55 0,-58 85 0,-26 10 0,83-106 0,18-19 0,12-16 0,-1 0 0,0-1 0,-12 12 0,-52 49 0,51-44 0,15-18 0,0-1 0,-1 0 0,0 0 0,-12 10 0,15-13 0,-1 0 0,1 0 0,0 0 0,0 0 0,1 1 0,-1-1 0,1 1 0,0 0 0,0 0 0,1 1 0,-2 4 0,-19 69 0,8-24 0,12-46-91,0 0 0,1 0 0,1 0 0,-1 1 0,2-1 0,-1 0 0,1 1 0,1-1 0,-1 0 0,2 1 0,-1-1 0,1 0 0,1 0 0,4 12 0,-3-13-6735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7:00.960"/>
    </inkml:context>
    <inkml:brush xml:id="br0">
      <inkml:brushProperty name="width" value="0.035" units="cm"/>
      <inkml:brushProperty name="height" value="0.035" units="cm"/>
    </inkml:brush>
  </inkml:definitions>
  <inkml:trace contextRef="#ctx0" brushRef="#br0">774 446 24575,'1'-99'0,"-3"-108"0,2 205 0,-1-1 0,1 1 0,0 0 0,-1-1 0,0 1 0,1-1 0,-1 1 0,0 0 0,-1-1 0,1 1 0,0 0 0,0 0 0,-1 0 0,1 0 0,-1 0 0,0 0 0,0 1 0,1-1 0,-1 1 0,0-1 0,0 1 0,-1-1 0,1 1 0,-4-2 0,-3 0 0,-1 1 0,0-1 0,1 1 0,-21-1 0,-9-2 0,-54-22 0,63 17 0,-1 1 0,-39-5 0,22 8 0,1 3 0,-1 1 0,-49 6 0,82-2 0,1 0 0,-1 1 0,1 0 0,-24 10 0,34-12 0,0 1 0,0 0 0,0 0 0,0 0 0,0 0 0,0 1 0,1-1 0,-1 1 0,1 0 0,0 0 0,0 0 0,0 1 0,0-1 0,1 1 0,-1 0 0,1-1 0,0 1 0,0 0 0,-2 7 0,3-6 0,0 1 0,0-1 0,0 1 0,1-1 0,0 1 0,0 0 0,1-1 0,-1 1 0,1-1 0,0 1 0,1-1 0,0 1 0,-1-1 0,2 0 0,-1 0 0,0 0 0,1 0 0,0 0 0,0 0 0,1-1 0,3 5 0,4 1 0,-1 0 0,1 0 0,1-2 0,0 1 0,0-1 0,1-1 0,16 8 0,259 124 0,-276-134 0,0-1 0,1-1 0,0 0 0,21 3 0,-21-5 0,0 1 0,-1 1 0,1 0 0,23 9 0,-24-6 0,1 0 0,-1 1 0,0 0 0,0 1 0,-1 0 0,15 14 0,-21-16 0,-1-1 0,1 1 0,-1 0 0,0 0 0,-1 1 0,1-1 0,-1 1 0,-1 0 0,1 0 0,-1 0 0,0 0 0,-1 0 0,0 0 0,1 9 0,1 50 0,-8 117 0,4-173 0,-1-1 0,0 1 0,0 0 0,-1-1 0,-1 1 0,1-1 0,-2 0 0,1 0 0,-1 0 0,-1-1 0,-7 11 0,-9 6 0,-1 0 0,-28 22 0,-2 3 0,47-45 0,1-1 0,-1 0 0,0 0 0,0-1 0,0 0 0,-1 0 0,1-1 0,-1 1 0,1-1 0,-1-1 0,0 1 0,0-1 0,-13 1 0,-5-1 0,-1-2 0,-34-3 0,51 2 0,1 0 0,-1 0 0,1-1 0,-1 0 0,1-1 0,0 1 0,0-2 0,1 1 0,-1-1 0,1 0 0,0 0 0,0-1 0,1 0 0,0 0 0,0-1 0,0 0 0,1 0 0,0 0 0,-6-11 0,-3-10 0,0 0 0,1 0 0,2-1 0,-8-33 0,15 47 0,-3-7 0,1 0 0,1 0 0,1-1 0,-2-34 0,5 17 0,0 16 0,0-1 0,2 1 0,0-1 0,6-27 0,-6 48 0,0 0 0,1 0 0,-1 0 0,0 0 0,1 0 0,0 0 0,0 0 0,0 0 0,1 1 0,-1-1 0,1 1 0,0 0 0,0 0 0,0 0 0,0 0 0,0 0 0,1 1 0,0-1 0,-1 1 0,1 0 0,4-2 0,4 1 0,0 0 0,0 0 0,0 1 0,1 1 0,21 0 0,-2-1 0,-28 1 8,0 1-1,-1-1 1,1 0 0,0 0-1,-1-1 1,1 1-1,-1-1 1,0 1 0,1-1-1,-1 0 1,0-1-1,0 1 1,0 0 0,0-1-1,-1 0 1,4-3-1,-3 2-193,1 1-1,-1-1 0,1 1 0,0 0 0,0 0 1,1 0-1,4-2 0,0 3-6639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7:30.518"/>
    </inkml:context>
    <inkml:brush xml:id="br0">
      <inkml:brushProperty name="width" value="0.035" units="cm"/>
      <inkml:brushProperty name="height" value="0.035" units="cm"/>
    </inkml:brush>
  </inkml:definitions>
  <inkml:trace contextRef="#ctx0" brushRef="#br0">1 386 24575,'0'-12'0,"2"0"0,-1 0 0,1 0 0,1 0 0,0 0 0,1 1 0,0 0 0,1-1 0,8-14 0,8-9 0,36-46 0,-35 52 0,-6 10 0,1 0 0,34-30 0,-49 47 0,1 0 0,-1 0 0,0 0 0,0 0 0,1 1 0,-1-1 0,1 1 0,-1 0 0,1 0 0,-1 0 0,1 0 0,0 0 0,0 0 0,0 1 0,-1-1 0,1 1 0,0 0 0,0 0 0,0 0 0,0 0 0,0 0 0,-1 1 0,1-1 0,0 1 0,0 0 0,2 1 0,0 0 0,-2 1 0,1 0 0,0 0 0,0 0 0,-1 0 0,0 1 0,1-1 0,-1 1 0,-1 0 0,1 0 0,0 0 0,-1 0 0,0 1 0,3 7 0,0 3 0,-1 0 0,-1 0 0,0 0 0,-1 1 0,0 26 0,-8 77 0,5-111 0,0 0 0,-1-1 0,0 1 0,0 0 0,-1-1 0,0 0 0,-1 1 0,1-1 0,-1-1 0,-1 1 0,1 0 0,-7 6 0,-6 5 0,-1-1 0,-32 24 0,34-29 0,0 0 0,1 2 0,1 0 0,-23 27 0,30-29 0,0 1 0,1 0 0,0 0 0,1 0 0,1 1 0,0-1 0,0 1 0,2 0 0,-2 17 0,1 2 0,2 0 0,6 61 0,-5-92 0,0 0 0,0 0 0,1 0 0,-1 0 0,0 0 0,1 0 0,0 0 0,-1 0 0,1 0 0,0 0 0,0 0 0,0 0 0,0 0 0,0 0 0,0-1 0,1 1 0,-1-1 0,1 1 0,-1-1 0,1 1 0,0-1 0,-1 0 0,1 1 0,0-1 0,0 0 0,3 1 0,-2-1 0,1-1 0,-1 0 0,0 0 0,0 0 0,0 0 0,0-1 0,0 1 0,0-1 0,0 1 0,0-1 0,0 0 0,0-1 0,0 1 0,0 0 0,-1-1 0,1 1 0,4-4 0,11-10 0,27-26 0,-30 26 0,0 1 0,25-18 0,-23 21 0,6-4 0,36-19 0,-50 30 0,1 0 0,0 1 0,0-1 0,0 2 0,0 0 0,1 0 0,12 0 0,283 1 0,-143 3 0,-160-2-93,-1 0 3,0 0-1,0 0 0,0 0 0,-1 0 0,1 0 0,0 0 0,0 1 0,-1-1 0,1 1 1,0-1-1,0 1 0,-1 0 0,2 0 0,3 5-6735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7:41.470"/>
    </inkml:context>
    <inkml:brush xml:id="br0">
      <inkml:brushProperty name="width" value="0.035" units="cm"/>
      <inkml:brushProperty name="height" value="0.035" units="cm"/>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30.031"/>
    </inkml:context>
    <inkml:brush xml:id="br0">
      <inkml:brushProperty name="width" value="0.035" units="cm"/>
      <inkml:brushProperty name="height" value="0.035" units="cm"/>
      <inkml:brushProperty name="color" value="#E71224"/>
    </inkml:brush>
  </inkml:definitions>
  <inkml:trace contextRef="#ctx0" brushRef="#br0">168 1 24575,'-17'601'0,"13"-557"0,-21 176 0,10-140 0,-8 154 0,19-193 0,-1-1 0,-1 1 0,-21 64 0,16-65 0,1 1 0,2 0 0,-4 55 0,11 443 0,3-255 0,-2 611 0,2-874 0,0-1 0,1 1 0,9 27 0,-5-18 0,-6-27-124,-1 0 0,1 0 0,0 0 0,1 0 0,-1 0 0,1 0-1,-1 0 1,1-1 0,0 1 0,3 4 0,8 4-6702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33.128"/>
    </inkml:context>
    <inkml:brush xml:id="br0">
      <inkml:brushProperty name="width" value="0.035" units="cm"/>
      <inkml:brushProperty name="height" value="0.035" units="cm"/>
      <inkml:brushProperty name="color" value="#E71224"/>
    </inkml:brush>
  </inkml:definitions>
  <inkml:trace contextRef="#ctx0" brushRef="#br0">0 56 24575,'1962'0'0,"-1921"-2"0,57-10 0,-56 6 0,54-2 0,34 10 0,97-4 0,-160-11 0,-50 9 0,0 0 0,21-1 0,33 3-1365,-59 3-5461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41.127"/>
    </inkml:context>
    <inkml:brush xml:id="br0">
      <inkml:brushProperty name="width" value="0.035" units="cm"/>
      <inkml:brushProperty name="height" value="0.035" units="cm"/>
      <inkml:brushProperty name="color" value="#FFFFFF"/>
    </inkml:brush>
  </inkml:definitions>
  <inkml:trace contextRef="#ctx0" brushRef="#br0">1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43.834"/>
    </inkml:context>
    <inkml:brush xml:id="br0">
      <inkml:brushProperty name="width" value="0.035" units="cm"/>
      <inkml:brushProperty name="height" value="0.035" units="cm"/>
      <inkml:brushProperty name="color" value="#FFFFFF"/>
    </inkml:brush>
  </inkml:definitions>
  <inkml:trace contextRef="#ctx0" brushRef="#br0">0 0 24575,'2'1'0,"0"-1"0,0 1 0,0 0 0,0 0 0,-1 0 0,1 0 0,0 0 0,-1 0 0,1 0 0,-1 0 0,1 1 0,-1-1 0,3 3 0,8 7 0,104 74 0,-70-48 0,-19-19 0,1 0 0,54 24 0,-56-31 0,0 2 0,-1 1 0,-1 1 0,31 24 0,-36-21 0,0 1 0,-1 0 0,26 38 0,-39-50 0,1-1 0,0 0 0,1 0 0,0-1 0,-1 0 0,2 0 0,-1 0 0,14 6 0,21 13 0,-30-15-341,1-1 0,-1 0-1,27 10 1,-28-14-6485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46.806"/>
    </inkml:context>
    <inkml:brush xml:id="br0">
      <inkml:brushProperty name="width" value="0.035" units="cm"/>
      <inkml:brushProperty name="height" value="0.035" units="cm"/>
      <inkml:brushProperty name="color" value="#FFFFFF"/>
    </inkml:brush>
  </inkml:definitions>
  <inkml:trace contextRef="#ctx0" brushRef="#br0">554 1 24575,'-1'5'0,"0"-1"0,0 1 0,0-1 0,0 1 0,-1-1 0,0 1 0,0-1 0,0 0 0,0 0 0,-1 0 0,-5 7 0,-37 39 0,44-50 0,-76 74 0,23-23 0,-53 64 0,69-64 0,20-25 0,-25 26 0,-39 58 0,75-102 0,1 1 0,1 0 0,-1 0 0,1 0 0,1 1 0,0 0 0,-4 11 0,-10 23 0,18-44-1,0 0 0,1 0 0,-1 0 0,0 0 1,0 0-1,0 0 0,0 0 0,0 0 0,0 0 0,0 0 0,0 0 0,1 0 0,-1 1 0,0-1 0,0 0 0,0 0 0,0 0 0,0 0 0,0 0 0,0 0 0,0 0 1,0 0-1,0 0 0,0 0 0,1 0 0,-1 0 0,0 1 0,0-1 0,0 0 0,0 0 0,0 0 0,0 0 0,0 0 0,0 0 0,0 0 0,0 0 0,0 1 0,0-1 0,0 0 1,0 0-1,0 0 0,0 0 0,0 0 0,0 0 0,0 0 0,0 0 0,0 1 0,0-1 0,0 0 0,-1 0 0,1 0 0,0 0 0,0 0 0,0 0 0,14-10 130,15-17-1571,-5 2-5384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248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39316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25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70270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0DEE42-35F4-475B-84E1-ED624FA66B94}"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721376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DEE42-35F4-475B-84E1-ED624FA66B94}"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697844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0DEE42-35F4-475B-84E1-ED624FA66B94}"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037799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21968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63669-A27C-4A8E-9C38-CD5B28B873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1354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3403278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196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0DEE42-35F4-475B-84E1-ED624FA66B94}" type="datetimeFigureOut">
              <a:rPr lang="en-US" smtClean="0"/>
              <a:t>11/9/2025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C363669-A27C-4A8E-9C38-CD5B28B87380}"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80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2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customXml" Target="../ink/ink4.xml"/><Relationship Id="rId14" Type="http://schemas.openxmlformats.org/officeDocument/2006/relationships/image" Target="../media/image26.png"/></Relationships>
</file>

<file path=ppt/slides/_rels/slide29.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33.png"/><Relationship Id="rId3" Type="http://schemas.openxmlformats.org/officeDocument/2006/relationships/customXml" Target="../ink/ink7.xml"/><Relationship Id="rId7" Type="http://schemas.openxmlformats.org/officeDocument/2006/relationships/image" Target="../media/image30.png"/><Relationship Id="rId12" Type="http://schemas.openxmlformats.org/officeDocument/2006/relationships/customXml" Target="../ink/ink11.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32.png"/><Relationship Id="rId5" Type="http://schemas.openxmlformats.org/officeDocument/2006/relationships/image" Target="../media/image29.png"/><Relationship Id="rId15" Type="http://schemas.openxmlformats.org/officeDocument/2006/relationships/image" Target="../media/image34.png"/><Relationship Id="rId10" Type="http://schemas.openxmlformats.org/officeDocument/2006/relationships/customXml" Target="../ink/ink10.xml"/><Relationship Id="rId4" Type="http://schemas.openxmlformats.org/officeDocument/2006/relationships/image" Target="../media/image28.png"/><Relationship Id="rId9" Type="http://schemas.openxmlformats.org/officeDocument/2006/relationships/image" Target="../media/image31.png"/><Relationship Id="rId14" Type="http://schemas.openxmlformats.org/officeDocument/2006/relationships/customXml" Target="../ink/ink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2AD70-F01E-D9EF-4901-C4510657E68A}"/>
              </a:ext>
            </a:extLst>
          </p:cNvPr>
          <p:cNvSpPr>
            <a:spLocks noGrp="1"/>
          </p:cNvSpPr>
          <p:nvPr>
            <p:ph type="ctrTitle"/>
          </p:nvPr>
        </p:nvSpPr>
        <p:spPr/>
        <p:txBody>
          <a:bodyPr/>
          <a:lstStyle/>
          <a:p>
            <a:r>
              <a:rPr lang="en-US" dirty="0"/>
              <a:t>Matrix Calculator</a:t>
            </a:r>
          </a:p>
        </p:txBody>
      </p:sp>
      <p:sp>
        <p:nvSpPr>
          <p:cNvPr id="3" name="Subtitle 2">
            <a:extLst>
              <a:ext uri="{FF2B5EF4-FFF2-40B4-BE49-F238E27FC236}">
                <a16:creationId xmlns:a16="http://schemas.microsoft.com/office/drawing/2014/main" id="{C9C3B0A3-1B9A-C481-F212-D1F1B1900662}"/>
              </a:ext>
            </a:extLst>
          </p:cNvPr>
          <p:cNvSpPr>
            <a:spLocks noGrp="1"/>
          </p:cNvSpPr>
          <p:nvPr>
            <p:ph type="subTitle" idx="1"/>
          </p:nvPr>
        </p:nvSpPr>
        <p:spPr/>
        <p:txBody>
          <a:bodyPr/>
          <a:lstStyle/>
          <a:p>
            <a:r>
              <a:rPr lang="en-US" dirty="0"/>
              <a:t>Abdullah Khadim CT-25083</a:t>
            </a:r>
          </a:p>
          <a:p>
            <a:r>
              <a:rPr lang="en-US" dirty="0"/>
              <a:t>Syed Mateen Ali CT-25084</a:t>
            </a:r>
          </a:p>
          <a:p>
            <a:r>
              <a:rPr lang="en-US" dirty="0"/>
              <a:t>Bushra Abid CT-25057</a:t>
            </a:r>
          </a:p>
        </p:txBody>
      </p:sp>
    </p:spTree>
    <p:extLst>
      <p:ext uri="{BB962C8B-B14F-4D97-AF65-F5344CB8AC3E}">
        <p14:creationId xmlns:p14="http://schemas.microsoft.com/office/powerpoint/2010/main" val="2480568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1793-33A9-164B-A79A-254272A37B0B}"/>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D8D72142-1D12-D641-5F26-8EE788F69479}"/>
              </a:ext>
            </a:extLst>
          </p:cNvPr>
          <p:cNvSpPr>
            <a:spLocks noGrp="1"/>
          </p:cNvSpPr>
          <p:nvPr>
            <p:ph idx="1"/>
          </p:nvPr>
        </p:nvSpPr>
        <p:spPr/>
        <p:txBody>
          <a:bodyPr/>
          <a:lstStyle/>
          <a:p>
            <a:r>
              <a:rPr lang="en-US" dirty="0"/>
              <a:t>What is matrix and what are operations performed on it</a:t>
            </a:r>
          </a:p>
          <a:p>
            <a:r>
              <a:rPr lang="en-US" dirty="0"/>
              <a:t>How it helps in our daily lives</a:t>
            </a:r>
          </a:p>
          <a:p>
            <a:r>
              <a:rPr lang="en-US" dirty="0"/>
              <a:t>Its use in Computer Science and real world</a:t>
            </a:r>
          </a:p>
          <a:p>
            <a:r>
              <a:rPr lang="en-US" dirty="0"/>
              <a:t>Explaining Operations</a:t>
            </a:r>
          </a:p>
          <a:p>
            <a:r>
              <a:rPr lang="en-US" dirty="0"/>
              <a:t>Algorithm and Flowchart</a:t>
            </a:r>
          </a:p>
          <a:p>
            <a:r>
              <a:rPr lang="en-US" dirty="0"/>
              <a:t>Tools in C used for it</a:t>
            </a:r>
          </a:p>
          <a:p>
            <a:r>
              <a:rPr lang="en-US" dirty="0"/>
              <a:t>How we make those operations in C language</a:t>
            </a:r>
          </a:p>
          <a:p>
            <a:r>
              <a:rPr lang="en-US" dirty="0"/>
              <a:t>The Program</a:t>
            </a:r>
          </a:p>
        </p:txBody>
      </p:sp>
    </p:spTree>
    <p:extLst>
      <p:ext uri="{BB962C8B-B14F-4D97-AF65-F5344CB8AC3E}">
        <p14:creationId xmlns:p14="http://schemas.microsoft.com/office/powerpoint/2010/main" val="966271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A7FD9-2DF9-DAF2-50E9-5C6AABEBE3A2}"/>
              </a:ext>
            </a:extLst>
          </p:cNvPr>
          <p:cNvSpPr>
            <a:spLocks noGrp="1"/>
          </p:cNvSpPr>
          <p:nvPr>
            <p:ph type="title"/>
          </p:nvPr>
        </p:nvSpPr>
        <p:spPr/>
        <p:txBody>
          <a:bodyPr/>
          <a:lstStyle/>
          <a:p>
            <a:r>
              <a:rPr lang="en-US" dirty="0"/>
              <a:t>Matrix</a:t>
            </a:r>
          </a:p>
        </p:txBody>
      </p:sp>
      <p:sp>
        <p:nvSpPr>
          <p:cNvPr id="3" name="Content Placeholder 2">
            <a:extLst>
              <a:ext uri="{FF2B5EF4-FFF2-40B4-BE49-F238E27FC236}">
                <a16:creationId xmlns:a16="http://schemas.microsoft.com/office/drawing/2014/main" id="{41BF9125-1C1C-B2AE-E05D-039100ED0CDD}"/>
              </a:ext>
            </a:extLst>
          </p:cNvPr>
          <p:cNvSpPr>
            <a:spLocks noGrp="1"/>
          </p:cNvSpPr>
          <p:nvPr>
            <p:ph idx="1"/>
          </p:nvPr>
        </p:nvSpPr>
        <p:spPr/>
        <p:txBody>
          <a:bodyPr/>
          <a:lstStyle/>
          <a:p>
            <a:r>
              <a:rPr lang="en-US" dirty="0"/>
              <a:t>A matrix is a rectangular array of numbers, symbols, or expressions arranged in rows and columns, typically enclosed in square brackets. The numbers are called the elements or entries of the matrix, and the arrangement is used to represent data and solve systems of linear equations. A matrix's size is defined by its number of rows and columns, for example, an “m x n" matrix has “m” rows and “n” columns. for example </a:t>
            </a:r>
          </a:p>
        </p:txBody>
      </p:sp>
      <p:pic>
        <p:nvPicPr>
          <p:cNvPr id="8" name="Picture 7">
            <a:extLst>
              <a:ext uri="{FF2B5EF4-FFF2-40B4-BE49-F238E27FC236}">
                <a16:creationId xmlns:a16="http://schemas.microsoft.com/office/drawing/2014/main" id="{E30DA5B6-7DB0-6C51-10E9-D6F922B24E31}"/>
              </a:ext>
            </a:extLst>
          </p:cNvPr>
          <p:cNvPicPr>
            <a:picLocks noChangeAspect="1"/>
          </p:cNvPicPr>
          <p:nvPr/>
        </p:nvPicPr>
        <p:blipFill>
          <a:blip r:embed="rId2"/>
          <a:stretch>
            <a:fillRect/>
          </a:stretch>
        </p:blipFill>
        <p:spPr>
          <a:xfrm>
            <a:off x="4473807" y="4379086"/>
            <a:ext cx="2926334" cy="2194750"/>
          </a:xfrm>
          <a:prstGeom prst="rect">
            <a:avLst/>
          </a:prstGeom>
        </p:spPr>
      </p:pic>
    </p:spTree>
    <p:extLst>
      <p:ext uri="{BB962C8B-B14F-4D97-AF65-F5344CB8AC3E}">
        <p14:creationId xmlns:p14="http://schemas.microsoft.com/office/powerpoint/2010/main" val="3640523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D76A-8AAA-53FA-053D-D644265AF045}"/>
              </a:ext>
            </a:extLst>
          </p:cNvPr>
          <p:cNvSpPr>
            <a:spLocks noGrp="1"/>
          </p:cNvSpPr>
          <p:nvPr>
            <p:ph type="title"/>
          </p:nvPr>
        </p:nvSpPr>
        <p:spPr/>
        <p:txBody>
          <a:bodyPr/>
          <a:lstStyle/>
          <a:p>
            <a:r>
              <a:rPr lang="en-US" dirty="0"/>
              <a:t>Why do we use matrices</a:t>
            </a:r>
          </a:p>
        </p:txBody>
      </p:sp>
      <p:sp>
        <p:nvSpPr>
          <p:cNvPr id="7" name="Content Placeholder 6">
            <a:extLst>
              <a:ext uri="{FF2B5EF4-FFF2-40B4-BE49-F238E27FC236}">
                <a16:creationId xmlns:a16="http://schemas.microsoft.com/office/drawing/2014/main" id="{E2262940-515E-EDCF-1BB4-6B36EFF4750A}"/>
              </a:ext>
            </a:extLst>
          </p:cNvPr>
          <p:cNvSpPr>
            <a:spLocks noGrp="1"/>
          </p:cNvSpPr>
          <p:nvPr>
            <p:ph idx="1"/>
          </p:nvPr>
        </p:nvSpPr>
        <p:spPr/>
        <p:txBody>
          <a:bodyPr>
            <a:normAutofit/>
          </a:bodyPr>
          <a:lstStyle/>
          <a:p>
            <a:r>
              <a:rPr lang="en-US" dirty="0"/>
              <a:t>Computer science and technology</a:t>
            </a:r>
          </a:p>
          <a:p>
            <a:r>
              <a:rPr lang="en-US" dirty="0"/>
              <a:t>Computer Graphics: Matrices are used to represent and manipulate objects in 2D and 3D space, including transformations like scaling, rotation, and translation. </a:t>
            </a:r>
          </a:p>
          <a:p>
            <a:r>
              <a:rPr lang="en-US" dirty="0"/>
              <a:t>Robotics: Robots use matrices to program their movements, calculate navigation, and perform tasks. </a:t>
            </a:r>
          </a:p>
          <a:p>
            <a:r>
              <a:rPr lang="en-US" dirty="0"/>
              <a:t>Data Encryption: Matrices are used to encrypt and decrypt data, providing security for online transactions and communications. </a:t>
            </a:r>
          </a:p>
          <a:p>
            <a:r>
              <a:rPr lang="en-US" dirty="0"/>
              <a:t>Page Ranking: Algorithms like the one used by Google use matrices to rank websites based on the links between them</a:t>
            </a:r>
          </a:p>
        </p:txBody>
      </p:sp>
    </p:spTree>
    <p:extLst>
      <p:ext uri="{BB962C8B-B14F-4D97-AF65-F5344CB8AC3E}">
        <p14:creationId xmlns:p14="http://schemas.microsoft.com/office/powerpoint/2010/main" val="2492656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DABF-FF2A-CDC0-4170-EE5A53B92239}"/>
              </a:ext>
            </a:extLst>
          </p:cNvPr>
          <p:cNvSpPr>
            <a:spLocks noGrp="1"/>
          </p:cNvSpPr>
          <p:nvPr>
            <p:ph type="title"/>
          </p:nvPr>
        </p:nvSpPr>
        <p:spPr/>
        <p:txBody>
          <a:bodyPr/>
          <a:lstStyle/>
          <a:p>
            <a:r>
              <a:rPr lang="en-US" dirty="0"/>
              <a:t>Matrix Operations in CCP</a:t>
            </a:r>
          </a:p>
        </p:txBody>
      </p:sp>
      <p:sp>
        <p:nvSpPr>
          <p:cNvPr id="3" name="Content Placeholder 2">
            <a:extLst>
              <a:ext uri="{FF2B5EF4-FFF2-40B4-BE49-F238E27FC236}">
                <a16:creationId xmlns:a16="http://schemas.microsoft.com/office/drawing/2014/main" id="{81581A04-AB4B-E57B-AA08-AD0999E6E26C}"/>
              </a:ext>
            </a:extLst>
          </p:cNvPr>
          <p:cNvSpPr>
            <a:spLocks noGrp="1"/>
          </p:cNvSpPr>
          <p:nvPr>
            <p:ph idx="1"/>
          </p:nvPr>
        </p:nvSpPr>
        <p:spPr/>
        <p:txBody>
          <a:bodyPr/>
          <a:lstStyle/>
          <a:p>
            <a:r>
              <a:rPr lang="en-US" dirty="0"/>
              <a:t>Additon </a:t>
            </a:r>
          </a:p>
          <a:p>
            <a:r>
              <a:rPr lang="en-US" dirty="0"/>
              <a:t>Subtraction</a:t>
            </a:r>
          </a:p>
          <a:p>
            <a:r>
              <a:rPr lang="en-US" dirty="0"/>
              <a:t>Multiplication</a:t>
            </a:r>
          </a:p>
          <a:p>
            <a:r>
              <a:rPr lang="en-US" dirty="0"/>
              <a:t>Transpose</a:t>
            </a:r>
          </a:p>
          <a:p>
            <a:r>
              <a:rPr lang="en-US" dirty="0"/>
              <a:t>Determinant</a:t>
            </a:r>
          </a:p>
          <a:p>
            <a:endParaRPr lang="en-US" dirty="0"/>
          </a:p>
        </p:txBody>
      </p:sp>
    </p:spTree>
    <p:extLst>
      <p:ext uri="{BB962C8B-B14F-4D97-AF65-F5344CB8AC3E}">
        <p14:creationId xmlns:p14="http://schemas.microsoft.com/office/powerpoint/2010/main" val="251028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255A0-752A-3797-4CDB-9364C44A23FB}"/>
              </a:ext>
            </a:extLst>
          </p:cNvPr>
          <p:cNvSpPr>
            <a:spLocks noGrp="1"/>
          </p:cNvSpPr>
          <p:nvPr>
            <p:ph type="title"/>
          </p:nvPr>
        </p:nvSpPr>
        <p:spPr/>
        <p:txBody>
          <a:bodyPr/>
          <a:lstStyle/>
          <a:p>
            <a:r>
              <a:rPr lang="en-US" dirty="0"/>
              <a:t>Matrix Addition</a:t>
            </a:r>
          </a:p>
        </p:txBody>
      </p:sp>
      <p:sp>
        <p:nvSpPr>
          <p:cNvPr id="3" name="Content Placeholder 2">
            <a:extLst>
              <a:ext uri="{FF2B5EF4-FFF2-40B4-BE49-F238E27FC236}">
                <a16:creationId xmlns:a16="http://schemas.microsoft.com/office/drawing/2014/main" id="{1E9D09BB-58F0-89F7-A44B-D434E807F4B3}"/>
              </a:ext>
            </a:extLst>
          </p:cNvPr>
          <p:cNvSpPr>
            <a:spLocks noGrp="1"/>
          </p:cNvSpPr>
          <p:nvPr>
            <p:ph idx="1"/>
          </p:nvPr>
        </p:nvSpPr>
        <p:spPr/>
        <p:txBody>
          <a:bodyPr/>
          <a:lstStyle/>
          <a:p>
            <a:r>
              <a:rPr lang="en-US" dirty="0"/>
              <a:t>The matrices that are to be added must have same order</a:t>
            </a:r>
          </a:p>
          <a:p>
            <a:r>
              <a:rPr lang="en-US" dirty="0"/>
              <a:t>The elements of the same order are added with each other</a:t>
            </a:r>
          </a:p>
          <a:p>
            <a:endParaRPr lang="en-US" dirty="0"/>
          </a:p>
        </p:txBody>
      </p:sp>
      <p:pic>
        <p:nvPicPr>
          <p:cNvPr id="5" name="Picture 4">
            <a:extLst>
              <a:ext uri="{FF2B5EF4-FFF2-40B4-BE49-F238E27FC236}">
                <a16:creationId xmlns:a16="http://schemas.microsoft.com/office/drawing/2014/main" id="{E6E81EE7-6C8C-F1CD-081C-EB484034A40A}"/>
              </a:ext>
            </a:extLst>
          </p:cNvPr>
          <p:cNvPicPr>
            <a:picLocks noChangeAspect="1"/>
          </p:cNvPicPr>
          <p:nvPr/>
        </p:nvPicPr>
        <p:blipFill>
          <a:blip r:embed="rId2"/>
          <a:stretch>
            <a:fillRect/>
          </a:stretch>
        </p:blipFill>
        <p:spPr>
          <a:xfrm>
            <a:off x="1844054" y="3133852"/>
            <a:ext cx="7331075" cy="2796782"/>
          </a:xfrm>
          <a:prstGeom prst="rect">
            <a:avLst/>
          </a:prstGeom>
        </p:spPr>
      </p:pic>
    </p:spTree>
    <p:extLst>
      <p:ext uri="{BB962C8B-B14F-4D97-AF65-F5344CB8AC3E}">
        <p14:creationId xmlns:p14="http://schemas.microsoft.com/office/powerpoint/2010/main" val="331587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E920-41C0-1FE9-497F-B869606AFE54}"/>
              </a:ext>
            </a:extLst>
          </p:cNvPr>
          <p:cNvSpPr>
            <a:spLocks noGrp="1"/>
          </p:cNvSpPr>
          <p:nvPr>
            <p:ph type="title"/>
          </p:nvPr>
        </p:nvSpPr>
        <p:spPr/>
        <p:txBody>
          <a:bodyPr/>
          <a:lstStyle/>
          <a:p>
            <a:r>
              <a:rPr lang="en-US" dirty="0"/>
              <a:t>Matrix Subtraction</a:t>
            </a:r>
          </a:p>
        </p:txBody>
      </p:sp>
      <p:sp>
        <p:nvSpPr>
          <p:cNvPr id="3" name="Content Placeholder 2">
            <a:extLst>
              <a:ext uri="{FF2B5EF4-FFF2-40B4-BE49-F238E27FC236}">
                <a16:creationId xmlns:a16="http://schemas.microsoft.com/office/drawing/2014/main" id="{F8383BE8-E633-8DE4-1328-F2E2A788D663}"/>
              </a:ext>
            </a:extLst>
          </p:cNvPr>
          <p:cNvSpPr>
            <a:spLocks noGrp="1"/>
          </p:cNvSpPr>
          <p:nvPr>
            <p:ph idx="1"/>
          </p:nvPr>
        </p:nvSpPr>
        <p:spPr/>
        <p:txBody>
          <a:bodyPr/>
          <a:lstStyle/>
          <a:p>
            <a:r>
              <a:rPr lang="en-US" dirty="0"/>
              <a:t>Same order for both Matrices</a:t>
            </a:r>
          </a:p>
          <a:p>
            <a:r>
              <a:rPr lang="en-US" dirty="0"/>
              <a:t>Element of same corresponding order will subtract</a:t>
            </a:r>
          </a:p>
          <a:p>
            <a:endParaRPr lang="en-US" dirty="0"/>
          </a:p>
        </p:txBody>
      </p:sp>
      <p:pic>
        <p:nvPicPr>
          <p:cNvPr id="5" name="Picture 4">
            <a:extLst>
              <a:ext uri="{FF2B5EF4-FFF2-40B4-BE49-F238E27FC236}">
                <a16:creationId xmlns:a16="http://schemas.microsoft.com/office/drawing/2014/main" id="{433A2B97-43F9-FEDB-5B6D-DA0E70C9EF84}"/>
              </a:ext>
            </a:extLst>
          </p:cNvPr>
          <p:cNvPicPr>
            <a:picLocks noChangeAspect="1"/>
          </p:cNvPicPr>
          <p:nvPr/>
        </p:nvPicPr>
        <p:blipFill>
          <a:blip r:embed="rId2"/>
          <a:stretch>
            <a:fillRect/>
          </a:stretch>
        </p:blipFill>
        <p:spPr>
          <a:xfrm>
            <a:off x="2295940" y="3138936"/>
            <a:ext cx="6559826" cy="3059237"/>
          </a:xfrm>
          <a:prstGeom prst="rect">
            <a:avLst/>
          </a:prstGeom>
        </p:spPr>
      </p:pic>
    </p:spTree>
    <p:extLst>
      <p:ext uri="{BB962C8B-B14F-4D97-AF65-F5344CB8AC3E}">
        <p14:creationId xmlns:p14="http://schemas.microsoft.com/office/powerpoint/2010/main" val="2874037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569B-8EA9-99A8-462A-966E5BFE9018}"/>
              </a:ext>
            </a:extLst>
          </p:cNvPr>
          <p:cNvSpPr>
            <a:spLocks noGrp="1"/>
          </p:cNvSpPr>
          <p:nvPr>
            <p:ph type="title"/>
          </p:nvPr>
        </p:nvSpPr>
        <p:spPr/>
        <p:txBody>
          <a:bodyPr/>
          <a:lstStyle/>
          <a:p>
            <a:r>
              <a:rPr lang="en-US" dirty="0"/>
              <a:t>Matrix Multiplication</a:t>
            </a:r>
          </a:p>
        </p:txBody>
      </p:sp>
      <p:sp>
        <p:nvSpPr>
          <p:cNvPr id="3" name="Content Placeholder 2">
            <a:extLst>
              <a:ext uri="{FF2B5EF4-FFF2-40B4-BE49-F238E27FC236}">
                <a16:creationId xmlns:a16="http://schemas.microsoft.com/office/drawing/2014/main" id="{731D6A18-E45C-13D3-3DFC-1D1654780CF2}"/>
              </a:ext>
            </a:extLst>
          </p:cNvPr>
          <p:cNvSpPr>
            <a:spLocks noGrp="1"/>
          </p:cNvSpPr>
          <p:nvPr>
            <p:ph idx="1"/>
          </p:nvPr>
        </p:nvSpPr>
        <p:spPr/>
        <p:txBody>
          <a:bodyPr/>
          <a:lstStyle/>
          <a:p>
            <a:r>
              <a:rPr lang="en-US" dirty="0"/>
              <a:t>The number of columns of first matrix should be same as the number of rows of second matrix.</a:t>
            </a:r>
          </a:p>
          <a:p>
            <a:r>
              <a:rPr lang="en-US" dirty="0"/>
              <a:t>The multiplication will occur in order of elements of rows of first matrix  to be multiplied by elements of columns of second matrix</a:t>
            </a:r>
          </a:p>
          <a:p>
            <a:r>
              <a:rPr lang="en-US" dirty="0"/>
              <a:t>For example if A(</a:t>
            </a:r>
            <a:r>
              <a:rPr lang="en-US" dirty="0" err="1"/>
              <a:t>m.n</a:t>
            </a:r>
            <a:r>
              <a:rPr lang="en-US" dirty="0"/>
              <a:t>) x B(</a:t>
            </a:r>
            <a:r>
              <a:rPr lang="en-US" dirty="0" err="1"/>
              <a:t>n.p</a:t>
            </a:r>
            <a:r>
              <a:rPr lang="en-US" dirty="0"/>
              <a:t>) then then the product of A and B (matrix C) should be of order (</a:t>
            </a:r>
            <a:r>
              <a:rPr lang="en-US" dirty="0" err="1"/>
              <a:t>m.p</a:t>
            </a:r>
            <a:r>
              <a:rPr lang="en-US" dirty="0"/>
              <a:t>)  </a:t>
            </a:r>
          </a:p>
        </p:txBody>
      </p:sp>
    </p:spTree>
    <p:extLst>
      <p:ext uri="{BB962C8B-B14F-4D97-AF65-F5344CB8AC3E}">
        <p14:creationId xmlns:p14="http://schemas.microsoft.com/office/powerpoint/2010/main" val="398841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35FEDE-506E-0E17-C45B-5D58080EEEA8}"/>
              </a:ext>
            </a:extLst>
          </p:cNvPr>
          <p:cNvSpPr txBox="1"/>
          <p:nvPr/>
        </p:nvSpPr>
        <p:spPr>
          <a:xfrm>
            <a:off x="327991" y="228600"/>
            <a:ext cx="11360426" cy="584775"/>
          </a:xfrm>
          <a:prstGeom prst="rect">
            <a:avLst/>
          </a:prstGeom>
          <a:noFill/>
        </p:spPr>
        <p:txBody>
          <a:bodyPr wrap="square" rtlCol="0">
            <a:spAutoFit/>
          </a:bodyPr>
          <a:lstStyle/>
          <a:p>
            <a:r>
              <a:rPr lang="en-US" sz="3200" dirty="0"/>
              <a:t>An 2 by 2 matrix multiplication</a:t>
            </a:r>
          </a:p>
        </p:txBody>
      </p:sp>
      <p:pic>
        <p:nvPicPr>
          <p:cNvPr id="4" name="Picture 3">
            <a:extLst>
              <a:ext uri="{FF2B5EF4-FFF2-40B4-BE49-F238E27FC236}">
                <a16:creationId xmlns:a16="http://schemas.microsoft.com/office/drawing/2014/main" id="{A4097A28-3EC6-DF1E-AB18-486354BA0EA4}"/>
              </a:ext>
            </a:extLst>
          </p:cNvPr>
          <p:cNvPicPr>
            <a:picLocks noChangeAspect="1"/>
          </p:cNvPicPr>
          <p:nvPr/>
        </p:nvPicPr>
        <p:blipFill>
          <a:blip r:embed="rId2"/>
          <a:stretch>
            <a:fillRect/>
          </a:stretch>
        </p:blipFill>
        <p:spPr>
          <a:xfrm>
            <a:off x="983974" y="1027912"/>
            <a:ext cx="9203635" cy="2533067"/>
          </a:xfrm>
          <a:prstGeom prst="rect">
            <a:avLst/>
          </a:prstGeom>
        </p:spPr>
      </p:pic>
      <p:sp>
        <p:nvSpPr>
          <p:cNvPr id="5" name="TextBox 4">
            <a:extLst>
              <a:ext uri="{FF2B5EF4-FFF2-40B4-BE49-F238E27FC236}">
                <a16:creationId xmlns:a16="http://schemas.microsoft.com/office/drawing/2014/main" id="{45E534A6-6687-BAD8-F7C8-81C797727F5A}"/>
              </a:ext>
            </a:extLst>
          </p:cNvPr>
          <p:cNvSpPr txBox="1"/>
          <p:nvPr/>
        </p:nvSpPr>
        <p:spPr>
          <a:xfrm>
            <a:off x="327991" y="3429000"/>
            <a:ext cx="5715000" cy="584775"/>
          </a:xfrm>
          <a:prstGeom prst="rect">
            <a:avLst/>
          </a:prstGeom>
          <a:noFill/>
        </p:spPr>
        <p:txBody>
          <a:bodyPr wrap="square" rtlCol="0">
            <a:spAutoFit/>
          </a:bodyPr>
          <a:lstStyle/>
          <a:p>
            <a:r>
              <a:rPr lang="en-US" sz="3200" dirty="0"/>
              <a:t>A 3 by 3 matrix multiplication</a:t>
            </a:r>
          </a:p>
        </p:txBody>
      </p:sp>
      <p:pic>
        <p:nvPicPr>
          <p:cNvPr id="7" name="Picture 6">
            <a:extLst>
              <a:ext uri="{FF2B5EF4-FFF2-40B4-BE49-F238E27FC236}">
                <a16:creationId xmlns:a16="http://schemas.microsoft.com/office/drawing/2014/main" id="{228C4E21-542C-24B3-EC69-3D97D1B2F5BC}"/>
              </a:ext>
            </a:extLst>
          </p:cNvPr>
          <p:cNvPicPr>
            <a:picLocks noChangeAspect="1"/>
          </p:cNvPicPr>
          <p:nvPr/>
        </p:nvPicPr>
        <p:blipFill>
          <a:blip r:embed="rId3"/>
          <a:stretch>
            <a:fillRect/>
          </a:stretch>
        </p:blipFill>
        <p:spPr>
          <a:xfrm>
            <a:off x="1232453" y="4194314"/>
            <a:ext cx="8637104" cy="2115624"/>
          </a:xfrm>
          <a:prstGeom prst="rect">
            <a:avLst/>
          </a:prstGeom>
        </p:spPr>
      </p:pic>
    </p:spTree>
    <p:extLst>
      <p:ext uri="{BB962C8B-B14F-4D97-AF65-F5344CB8AC3E}">
        <p14:creationId xmlns:p14="http://schemas.microsoft.com/office/powerpoint/2010/main" val="349040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CF4C-2F50-11FE-4735-158189DE8690}"/>
              </a:ext>
            </a:extLst>
          </p:cNvPr>
          <p:cNvSpPr>
            <a:spLocks noGrp="1"/>
          </p:cNvSpPr>
          <p:nvPr>
            <p:ph type="title"/>
          </p:nvPr>
        </p:nvSpPr>
        <p:spPr/>
        <p:txBody>
          <a:bodyPr/>
          <a:lstStyle/>
          <a:p>
            <a:r>
              <a:rPr lang="en-US" dirty="0"/>
              <a:t>Transpose of a Matrix</a:t>
            </a:r>
          </a:p>
        </p:txBody>
      </p:sp>
      <p:sp>
        <p:nvSpPr>
          <p:cNvPr id="3" name="Content Placeholder 2">
            <a:extLst>
              <a:ext uri="{FF2B5EF4-FFF2-40B4-BE49-F238E27FC236}">
                <a16:creationId xmlns:a16="http://schemas.microsoft.com/office/drawing/2014/main" id="{2BC60E22-A48E-B2EF-ED51-7194BA1A0327}"/>
              </a:ext>
            </a:extLst>
          </p:cNvPr>
          <p:cNvSpPr>
            <a:spLocks noGrp="1"/>
          </p:cNvSpPr>
          <p:nvPr>
            <p:ph idx="1"/>
          </p:nvPr>
        </p:nvSpPr>
        <p:spPr/>
        <p:txBody>
          <a:bodyPr/>
          <a:lstStyle/>
          <a:p>
            <a:r>
              <a:rPr lang="en-US" dirty="0"/>
              <a:t>The matrix formed by swapping the order of elements in rows and columns ultimately swapping the order of matrix.</a:t>
            </a:r>
          </a:p>
          <a:p>
            <a:r>
              <a:rPr lang="en-US" dirty="0"/>
              <a:t>For example if a matrix A has order of (2x3) then the order of its transpose At will be (3x2)</a:t>
            </a:r>
          </a:p>
          <a:p>
            <a:r>
              <a:rPr lang="en-US" dirty="0"/>
              <a:t>The element at (2,1) will be at (1,2)</a:t>
            </a:r>
          </a:p>
          <a:p>
            <a:endParaRPr lang="en-US" dirty="0"/>
          </a:p>
        </p:txBody>
      </p:sp>
    </p:spTree>
    <p:extLst>
      <p:ext uri="{BB962C8B-B14F-4D97-AF65-F5344CB8AC3E}">
        <p14:creationId xmlns:p14="http://schemas.microsoft.com/office/powerpoint/2010/main" val="370000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BF67F-9CD0-96B9-87DF-DBA5FF8FCF34}"/>
              </a:ext>
            </a:extLst>
          </p:cNvPr>
          <p:cNvSpPr txBox="1"/>
          <p:nvPr/>
        </p:nvSpPr>
        <p:spPr>
          <a:xfrm>
            <a:off x="785191" y="413266"/>
            <a:ext cx="8348869" cy="584775"/>
          </a:xfrm>
          <a:prstGeom prst="rect">
            <a:avLst/>
          </a:prstGeom>
          <a:noFill/>
        </p:spPr>
        <p:txBody>
          <a:bodyPr wrap="square" rtlCol="0">
            <a:spAutoFit/>
          </a:bodyPr>
          <a:lstStyle/>
          <a:p>
            <a:r>
              <a:rPr lang="en-US" sz="3200" dirty="0"/>
              <a:t>Transpose Operation</a:t>
            </a:r>
          </a:p>
        </p:txBody>
      </p:sp>
      <p:pic>
        <p:nvPicPr>
          <p:cNvPr id="4" name="Picture 3">
            <a:extLst>
              <a:ext uri="{FF2B5EF4-FFF2-40B4-BE49-F238E27FC236}">
                <a16:creationId xmlns:a16="http://schemas.microsoft.com/office/drawing/2014/main" id="{068EB973-40AA-A935-06DA-04FC9466720E}"/>
              </a:ext>
            </a:extLst>
          </p:cNvPr>
          <p:cNvPicPr>
            <a:picLocks noChangeAspect="1"/>
          </p:cNvPicPr>
          <p:nvPr/>
        </p:nvPicPr>
        <p:blipFill>
          <a:blip r:embed="rId2"/>
          <a:stretch>
            <a:fillRect/>
          </a:stretch>
        </p:blipFill>
        <p:spPr>
          <a:xfrm>
            <a:off x="709075" y="1413595"/>
            <a:ext cx="5685013" cy="1844200"/>
          </a:xfrm>
          <a:prstGeom prst="rect">
            <a:avLst/>
          </a:prstGeom>
        </p:spPr>
      </p:pic>
      <p:pic>
        <p:nvPicPr>
          <p:cNvPr id="6" name="Picture 5">
            <a:extLst>
              <a:ext uri="{FF2B5EF4-FFF2-40B4-BE49-F238E27FC236}">
                <a16:creationId xmlns:a16="http://schemas.microsoft.com/office/drawing/2014/main" id="{93A9DBCF-5395-DD10-2007-5822A468758E}"/>
              </a:ext>
            </a:extLst>
          </p:cNvPr>
          <p:cNvPicPr>
            <a:picLocks noChangeAspect="1"/>
          </p:cNvPicPr>
          <p:nvPr/>
        </p:nvPicPr>
        <p:blipFill>
          <a:blip r:embed="rId3"/>
          <a:stretch>
            <a:fillRect/>
          </a:stretch>
        </p:blipFill>
        <p:spPr>
          <a:xfrm>
            <a:off x="6738730" y="1133061"/>
            <a:ext cx="5108713" cy="5311673"/>
          </a:xfrm>
          <a:prstGeom prst="rect">
            <a:avLst/>
          </a:prstGeom>
        </p:spPr>
      </p:pic>
    </p:spTree>
    <p:extLst>
      <p:ext uri="{BB962C8B-B14F-4D97-AF65-F5344CB8AC3E}">
        <p14:creationId xmlns:p14="http://schemas.microsoft.com/office/powerpoint/2010/main" val="766061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C40C6-6431-6441-9FCC-EC359B802010}"/>
              </a:ext>
            </a:extLst>
          </p:cNvPr>
          <p:cNvSpPr>
            <a:spLocks noGrp="1"/>
          </p:cNvSpPr>
          <p:nvPr>
            <p:ph type="title"/>
          </p:nvPr>
        </p:nvSpPr>
        <p:spPr/>
        <p:txBody>
          <a:bodyPr/>
          <a:lstStyle/>
          <a:p>
            <a:r>
              <a:rPr lang="en-US" dirty="0"/>
              <a:t>Determinant of a Matrix</a:t>
            </a:r>
          </a:p>
        </p:txBody>
      </p:sp>
      <p:sp>
        <p:nvSpPr>
          <p:cNvPr id="3" name="Content Placeholder 2">
            <a:extLst>
              <a:ext uri="{FF2B5EF4-FFF2-40B4-BE49-F238E27FC236}">
                <a16:creationId xmlns:a16="http://schemas.microsoft.com/office/drawing/2014/main" id="{9EC0139B-3235-5BB5-F5D5-03364D7A399C}"/>
              </a:ext>
            </a:extLst>
          </p:cNvPr>
          <p:cNvSpPr>
            <a:spLocks noGrp="1"/>
          </p:cNvSpPr>
          <p:nvPr>
            <p:ph idx="1"/>
          </p:nvPr>
        </p:nvSpPr>
        <p:spPr/>
        <p:txBody>
          <a:bodyPr/>
          <a:lstStyle/>
          <a:p>
            <a:r>
              <a:rPr lang="en-US" dirty="0"/>
              <a:t>The determinant is a scalar value computed for a square matrix that we use to find the inverse for matrix and at advance level it indicates properties of the linear transformation it represents, such as scaling factor and orientation. </a:t>
            </a:r>
          </a:p>
        </p:txBody>
      </p:sp>
    </p:spTree>
    <p:extLst>
      <p:ext uri="{BB962C8B-B14F-4D97-AF65-F5344CB8AC3E}">
        <p14:creationId xmlns:p14="http://schemas.microsoft.com/office/powerpoint/2010/main" val="2903647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E3EF76-B8ED-4E89-0E34-5C6481FD475A}"/>
              </a:ext>
            </a:extLst>
          </p:cNvPr>
          <p:cNvSpPr txBox="1"/>
          <p:nvPr/>
        </p:nvSpPr>
        <p:spPr>
          <a:xfrm>
            <a:off x="387626" y="248478"/>
            <a:ext cx="9153939" cy="584775"/>
          </a:xfrm>
          <a:prstGeom prst="rect">
            <a:avLst/>
          </a:prstGeom>
          <a:noFill/>
        </p:spPr>
        <p:txBody>
          <a:bodyPr wrap="square" rtlCol="0">
            <a:spAutoFit/>
          </a:bodyPr>
          <a:lstStyle/>
          <a:p>
            <a:r>
              <a:rPr lang="en-US" sz="3200" dirty="0"/>
              <a:t>A 2x2 matrix determinant</a:t>
            </a:r>
          </a:p>
        </p:txBody>
      </p:sp>
      <p:pic>
        <p:nvPicPr>
          <p:cNvPr id="4" name="Picture 3">
            <a:extLst>
              <a:ext uri="{FF2B5EF4-FFF2-40B4-BE49-F238E27FC236}">
                <a16:creationId xmlns:a16="http://schemas.microsoft.com/office/drawing/2014/main" id="{A70D1537-2D91-B085-0774-10C8D5E67459}"/>
              </a:ext>
            </a:extLst>
          </p:cNvPr>
          <p:cNvPicPr>
            <a:picLocks noChangeAspect="1"/>
          </p:cNvPicPr>
          <p:nvPr/>
        </p:nvPicPr>
        <p:blipFill>
          <a:blip r:embed="rId2"/>
          <a:stretch>
            <a:fillRect/>
          </a:stretch>
        </p:blipFill>
        <p:spPr>
          <a:xfrm>
            <a:off x="633399" y="1709530"/>
            <a:ext cx="5071662" cy="3091070"/>
          </a:xfrm>
          <a:prstGeom prst="rect">
            <a:avLst/>
          </a:prstGeom>
        </p:spPr>
      </p:pic>
      <p:pic>
        <p:nvPicPr>
          <p:cNvPr id="6" name="Picture 5">
            <a:extLst>
              <a:ext uri="{FF2B5EF4-FFF2-40B4-BE49-F238E27FC236}">
                <a16:creationId xmlns:a16="http://schemas.microsoft.com/office/drawing/2014/main" id="{F073BAF3-175A-128F-6E2F-E92F0E95A784}"/>
              </a:ext>
            </a:extLst>
          </p:cNvPr>
          <p:cNvPicPr>
            <a:picLocks noChangeAspect="1"/>
          </p:cNvPicPr>
          <p:nvPr/>
        </p:nvPicPr>
        <p:blipFill>
          <a:blip r:embed="rId3"/>
          <a:stretch>
            <a:fillRect/>
          </a:stretch>
        </p:blipFill>
        <p:spPr>
          <a:xfrm>
            <a:off x="5758614" y="1933335"/>
            <a:ext cx="5829805" cy="3627434"/>
          </a:xfrm>
          <a:prstGeom prst="rect">
            <a:avLst/>
          </a:prstGeom>
        </p:spPr>
      </p:pic>
    </p:spTree>
    <p:extLst>
      <p:ext uri="{BB962C8B-B14F-4D97-AF65-F5344CB8AC3E}">
        <p14:creationId xmlns:p14="http://schemas.microsoft.com/office/powerpoint/2010/main" val="3241909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FFCE93-F9F3-451E-A5F0-C1A7076DCB11}"/>
              </a:ext>
            </a:extLst>
          </p:cNvPr>
          <p:cNvSpPr txBox="1"/>
          <p:nvPr/>
        </p:nvSpPr>
        <p:spPr>
          <a:xfrm>
            <a:off x="228600" y="168965"/>
            <a:ext cx="7484165" cy="584775"/>
          </a:xfrm>
          <a:prstGeom prst="rect">
            <a:avLst/>
          </a:prstGeom>
          <a:noFill/>
        </p:spPr>
        <p:txBody>
          <a:bodyPr wrap="square" rtlCol="0">
            <a:spAutoFit/>
          </a:bodyPr>
          <a:lstStyle/>
          <a:p>
            <a:r>
              <a:rPr lang="en-US" sz="3200" dirty="0"/>
              <a:t>A 3x3 matrix determinant</a:t>
            </a:r>
          </a:p>
        </p:txBody>
      </p:sp>
      <p:pic>
        <p:nvPicPr>
          <p:cNvPr id="4" name="Picture 3">
            <a:extLst>
              <a:ext uri="{FF2B5EF4-FFF2-40B4-BE49-F238E27FC236}">
                <a16:creationId xmlns:a16="http://schemas.microsoft.com/office/drawing/2014/main" id="{69574771-724B-84BE-EC19-ED63ED06B711}"/>
              </a:ext>
            </a:extLst>
          </p:cNvPr>
          <p:cNvPicPr>
            <a:picLocks noChangeAspect="1"/>
          </p:cNvPicPr>
          <p:nvPr/>
        </p:nvPicPr>
        <p:blipFill>
          <a:blip r:embed="rId2"/>
          <a:stretch>
            <a:fillRect/>
          </a:stretch>
        </p:blipFill>
        <p:spPr>
          <a:xfrm>
            <a:off x="5098773" y="434080"/>
            <a:ext cx="6331226" cy="5989839"/>
          </a:xfrm>
          <a:prstGeom prst="rect">
            <a:avLst/>
          </a:prstGeom>
        </p:spPr>
      </p:pic>
    </p:spTree>
    <p:extLst>
      <p:ext uri="{BB962C8B-B14F-4D97-AF65-F5344CB8AC3E}">
        <p14:creationId xmlns:p14="http://schemas.microsoft.com/office/powerpoint/2010/main" val="1698345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7B1382-B11F-CE4A-31FF-8B3B51EAB185}"/>
              </a:ext>
            </a:extLst>
          </p:cNvPr>
          <p:cNvPicPr>
            <a:picLocks noChangeAspect="1"/>
          </p:cNvPicPr>
          <p:nvPr/>
        </p:nvPicPr>
        <p:blipFill>
          <a:blip r:embed="rId2"/>
          <a:stretch>
            <a:fillRect/>
          </a:stretch>
        </p:blipFill>
        <p:spPr>
          <a:xfrm>
            <a:off x="1242392" y="238539"/>
            <a:ext cx="9899374" cy="6321287"/>
          </a:xfrm>
          <a:prstGeom prst="rect">
            <a:avLst/>
          </a:prstGeom>
        </p:spPr>
      </p:pic>
    </p:spTree>
    <p:extLst>
      <p:ext uri="{BB962C8B-B14F-4D97-AF65-F5344CB8AC3E}">
        <p14:creationId xmlns:p14="http://schemas.microsoft.com/office/powerpoint/2010/main" val="407996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1540-B6D5-EC16-AEE2-13015797B4CC}"/>
              </a:ext>
            </a:extLst>
          </p:cNvPr>
          <p:cNvSpPr>
            <a:spLocks noGrp="1"/>
          </p:cNvSpPr>
          <p:nvPr>
            <p:ph type="title"/>
          </p:nvPr>
        </p:nvSpPr>
        <p:spPr>
          <a:xfrm>
            <a:off x="838200" y="365125"/>
            <a:ext cx="10515600" cy="499579"/>
          </a:xfrm>
        </p:spPr>
        <p:txBody>
          <a:bodyPr>
            <a:normAutofit fontScale="90000"/>
          </a:bodyPr>
          <a:lstStyle/>
          <a:p>
            <a:r>
              <a:rPr lang="en-US" dirty="0"/>
              <a:t>Algorithm</a:t>
            </a:r>
          </a:p>
        </p:txBody>
      </p:sp>
      <p:sp>
        <p:nvSpPr>
          <p:cNvPr id="3" name="Content Placeholder 2">
            <a:extLst>
              <a:ext uri="{FF2B5EF4-FFF2-40B4-BE49-F238E27FC236}">
                <a16:creationId xmlns:a16="http://schemas.microsoft.com/office/drawing/2014/main" id="{AA1D8E3C-E1E2-4C6E-C23E-74489B774FFD}"/>
              </a:ext>
            </a:extLst>
          </p:cNvPr>
          <p:cNvSpPr>
            <a:spLocks noGrp="1"/>
          </p:cNvSpPr>
          <p:nvPr>
            <p:ph idx="1"/>
          </p:nvPr>
        </p:nvSpPr>
        <p:spPr>
          <a:xfrm>
            <a:off x="838200" y="1033670"/>
            <a:ext cx="10515600" cy="5575852"/>
          </a:xfrm>
        </p:spPr>
        <p:txBody>
          <a:bodyPr>
            <a:normAutofit fontScale="92500" lnSpcReduction="20000"/>
          </a:bodyPr>
          <a:lstStyle/>
          <a:p>
            <a:pPr marL="0" indent="0">
              <a:buNone/>
            </a:pPr>
            <a:r>
              <a:rPr lang="en-US" sz="1400" dirty="0"/>
              <a:t>Step 1: Start the program</a:t>
            </a:r>
          </a:p>
          <a:p>
            <a:pPr marL="0" indent="0">
              <a:buNone/>
            </a:pPr>
            <a:r>
              <a:rPr lang="en-US" sz="1400" dirty="0"/>
              <a:t>Step 2: Display the title "Matrix Calculator"</a:t>
            </a:r>
          </a:p>
          <a:p>
            <a:pPr marL="0" indent="0">
              <a:buNone/>
            </a:pPr>
            <a:r>
              <a:rPr lang="en-US" sz="1400" dirty="0"/>
              <a:t>Step 3: Ask the user to enter matrix size (2 or 3)</a:t>
            </a:r>
          </a:p>
          <a:p>
            <a:pPr marL="0" indent="0">
              <a:buNone/>
            </a:pPr>
            <a:r>
              <a:rPr lang="en-US" sz="1400" dirty="0"/>
              <a:t>Step 4: If size is not 2 or 3 → display "Invalid size" and stop</a:t>
            </a:r>
          </a:p>
          <a:p>
            <a:pPr marL="0" indent="0">
              <a:buNone/>
            </a:pPr>
            <a:r>
              <a:rPr lang="en-US" sz="1400" dirty="0"/>
              <a:t>Step 5: Input elements of the first matrix A</a:t>
            </a:r>
          </a:p>
          <a:p>
            <a:pPr marL="0" indent="0">
              <a:buNone/>
            </a:pPr>
            <a:r>
              <a:rPr lang="en-US" sz="1400" dirty="0"/>
              <a:t>Step 6: Input elements of the second matrix B</a:t>
            </a:r>
          </a:p>
          <a:p>
            <a:pPr marL="0" indent="0">
              <a:buNone/>
            </a:pPr>
            <a:endParaRPr lang="en-US" sz="1400" dirty="0"/>
          </a:p>
          <a:p>
            <a:pPr marL="0" indent="0">
              <a:buNone/>
            </a:pPr>
            <a:r>
              <a:rPr lang="en-US" sz="1400" dirty="0"/>
              <a:t>Step 7: Display both matrices on the screen</a:t>
            </a:r>
          </a:p>
          <a:p>
            <a:pPr marL="0" indent="0">
              <a:buNone/>
            </a:pPr>
            <a:endParaRPr lang="en-US" sz="1400" dirty="0"/>
          </a:p>
          <a:p>
            <a:pPr marL="0" indent="0">
              <a:buNone/>
            </a:pPr>
            <a:r>
              <a:rPr lang="en-US" sz="1400" dirty="0"/>
              <a:t>Step 8: Show menu for operations:</a:t>
            </a:r>
          </a:p>
          <a:p>
            <a:pPr marL="0" indent="0">
              <a:buNone/>
            </a:pPr>
            <a:r>
              <a:rPr lang="en-US" sz="1400" dirty="0"/>
              <a:t> 1 → Addition</a:t>
            </a:r>
          </a:p>
          <a:p>
            <a:pPr marL="0" indent="0">
              <a:buNone/>
            </a:pPr>
            <a:r>
              <a:rPr lang="en-US" sz="1400" dirty="0"/>
              <a:t> 2 → Subtraction</a:t>
            </a:r>
          </a:p>
          <a:p>
            <a:pPr marL="0" indent="0">
              <a:buNone/>
            </a:pPr>
            <a:r>
              <a:rPr lang="en-US" sz="1400" dirty="0"/>
              <a:t> 3 → Multiplication</a:t>
            </a:r>
          </a:p>
          <a:p>
            <a:pPr marL="0" indent="0">
              <a:buNone/>
            </a:pPr>
            <a:r>
              <a:rPr lang="en-US" sz="1400" dirty="0"/>
              <a:t> 4 → Transpose</a:t>
            </a:r>
          </a:p>
          <a:p>
            <a:pPr marL="0" indent="0">
              <a:buNone/>
            </a:pPr>
            <a:r>
              <a:rPr lang="en-US" sz="1400" dirty="0"/>
              <a:t> 5 → Determinant</a:t>
            </a:r>
          </a:p>
          <a:p>
            <a:pPr marL="0" indent="0">
              <a:buNone/>
            </a:pPr>
            <a:endParaRPr lang="en-US" sz="1400" dirty="0"/>
          </a:p>
          <a:p>
            <a:pPr marL="0" indent="0">
              <a:buNone/>
            </a:pPr>
            <a:r>
              <a:rPr lang="en-US" sz="1400" dirty="0"/>
              <a:t>Step 9: Read the user’s choice</a:t>
            </a:r>
          </a:p>
          <a:p>
            <a:pPr marL="0" indent="0">
              <a:buNone/>
            </a:pPr>
            <a:endParaRPr lang="en-US" sz="1400" dirty="0"/>
          </a:p>
          <a:p>
            <a:pPr marL="0" indent="0">
              <a:buNone/>
            </a:pPr>
            <a:endParaRPr lang="en-US" sz="1400" dirty="0"/>
          </a:p>
        </p:txBody>
      </p:sp>
    </p:spTree>
    <p:extLst>
      <p:ext uri="{BB962C8B-B14F-4D97-AF65-F5344CB8AC3E}">
        <p14:creationId xmlns:p14="http://schemas.microsoft.com/office/powerpoint/2010/main" val="2601815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A27108-434A-5A5F-B544-60FDB82AFA35}"/>
              </a:ext>
            </a:extLst>
          </p:cNvPr>
          <p:cNvSpPr>
            <a:spLocks noGrp="1"/>
          </p:cNvSpPr>
          <p:nvPr>
            <p:ph idx="1"/>
          </p:nvPr>
        </p:nvSpPr>
        <p:spPr>
          <a:xfrm>
            <a:off x="288235" y="332961"/>
            <a:ext cx="11085443" cy="6192078"/>
          </a:xfrm>
        </p:spPr>
        <p:txBody>
          <a:bodyPr>
            <a:normAutofit/>
          </a:bodyPr>
          <a:lstStyle/>
          <a:p>
            <a:r>
              <a:rPr lang="en-US" sz="2300" b="1" dirty="0"/>
              <a:t>Case 1 — Addition</a:t>
            </a:r>
          </a:p>
          <a:p>
            <a:r>
              <a:rPr lang="en-US" sz="2300" dirty="0"/>
              <a:t>Compute res[</a:t>
            </a:r>
            <a:r>
              <a:rPr lang="en-US" sz="2300" dirty="0" err="1"/>
              <a:t>i</a:t>
            </a:r>
            <a:r>
              <a:rPr lang="en-US" sz="2300" dirty="0"/>
              <a:t>][j] = A[</a:t>
            </a:r>
            <a:r>
              <a:rPr lang="en-US" sz="2300" dirty="0" err="1"/>
              <a:t>i</a:t>
            </a:r>
            <a:r>
              <a:rPr lang="en-US" sz="2300" dirty="0"/>
              <a:t>][j] + B[</a:t>
            </a:r>
            <a:r>
              <a:rPr lang="en-US" sz="2300" dirty="0" err="1"/>
              <a:t>i</a:t>
            </a:r>
            <a:r>
              <a:rPr lang="en-US" sz="2300" dirty="0"/>
              <a:t>][j] for all elements</a:t>
            </a:r>
          </a:p>
          <a:p>
            <a:r>
              <a:rPr lang="en-US" sz="2300" dirty="0"/>
              <a:t>Display result matrix</a:t>
            </a:r>
          </a:p>
          <a:p>
            <a:r>
              <a:rPr lang="en-US" sz="2300" b="1" dirty="0"/>
              <a:t>Case 2 — Subtraction</a:t>
            </a:r>
          </a:p>
          <a:p>
            <a:r>
              <a:rPr lang="en-US" sz="2300" dirty="0"/>
              <a:t>Compute res[</a:t>
            </a:r>
            <a:r>
              <a:rPr lang="en-US" sz="2300" dirty="0" err="1"/>
              <a:t>i</a:t>
            </a:r>
            <a:r>
              <a:rPr lang="en-US" sz="2300" dirty="0"/>
              <a:t>][j] = A[</a:t>
            </a:r>
            <a:r>
              <a:rPr lang="en-US" sz="2300" dirty="0" err="1"/>
              <a:t>i</a:t>
            </a:r>
            <a:r>
              <a:rPr lang="en-US" sz="2300" dirty="0"/>
              <a:t>][j] - B[</a:t>
            </a:r>
            <a:r>
              <a:rPr lang="en-US" sz="2300" dirty="0" err="1"/>
              <a:t>i</a:t>
            </a:r>
            <a:r>
              <a:rPr lang="en-US" sz="2300" dirty="0"/>
              <a:t>][j]</a:t>
            </a:r>
          </a:p>
          <a:p>
            <a:pPr>
              <a:lnSpc>
                <a:spcPct val="120000"/>
              </a:lnSpc>
            </a:pPr>
            <a:r>
              <a:rPr lang="en-US" sz="2300" dirty="0"/>
              <a:t>Display result matrix</a:t>
            </a:r>
          </a:p>
          <a:p>
            <a:r>
              <a:rPr lang="en-US" sz="2300" b="1" dirty="0"/>
              <a:t>Case 3 — Multiplication</a:t>
            </a:r>
          </a:p>
          <a:p>
            <a:r>
              <a:rPr lang="en-US" sz="2300" dirty="0"/>
              <a:t>Set all elements of res to 0</a:t>
            </a:r>
          </a:p>
          <a:p>
            <a:r>
              <a:rPr lang="en-US" sz="2300" dirty="0"/>
              <a:t>For each cell:</a:t>
            </a:r>
            <a:br>
              <a:rPr lang="en-US" sz="2300" dirty="0"/>
            </a:br>
            <a:r>
              <a:rPr lang="en-US" sz="2300" dirty="0"/>
              <a:t>res[</a:t>
            </a:r>
            <a:r>
              <a:rPr lang="en-US" sz="2300" dirty="0" err="1"/>
              <a:t>i</a:t>
            </a:r>
            <a:r>
              <a:rPr lang="en-US" sz="2300" dirty="0"/>
              <a:t>][j] = Σ( A[</a:t>
            </a:r>
            <a:r>
              <a:rPr lang="en-US" sz="2300" dirty="0" err="1"/>
              <a:t>i</a:t>
            </a:r>
            <a:r>
              <a:rPr lang="en-US" sz="2300" dirty="0"/>
              <a:t>][k] × B[k][j] )</a:t>
            </a:r>
          </a:p>
          <a:p>
            <a:r>
              <a:rPr lang="en-US" sz="2300" dirty="0"/>
              <a:t>Display result matrix</a:t>
            </a:r>
          </a:p>
          <a:p>
            <a:pPr marL="514350" indent="-514350">
              <a:buFont typeface="+mj-lt"/>
              <a:buAutoNum type="arabicPeriod"/>
            </a:pPr>
            <a:endParaRPr lang="en-US" dirty="0"/>
          </a:p>
        </p:txBody>
      </p:sp>
    </p:spTree>
    <p:extLst>
      <p:ext uri="{BB962C8B-B14F-4D97-AF65-F5344CB8AC3E}">
        <p14:creationId xmlns:p14="http://schemas.microsoft.com/office/powerpoint/2010/main" val="1246971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61B50E-B27D-F846-66A4-2C193560B491}"/>
              </a:ext>
            </a:extLst>
          </p:cNvPr>
          <p:cNvSpPr txBox="1"/>
          <p:nvPr/>
        </p:nvSpPr>
        <p:spPr>
          <a:xfrm>
            <a:off x="566530" y="347870"/>
            <a:ext cx="10654748" cy="4616648"/>
          </a:xfrm>
          <a:prstGeom prst="rect">
            <a:avLst/>
          </a:prstGeom>
          <a:noFill/>
        </p:spPr>
        <p:txBody>
          <a:bodyPr wrap="square" rtlCol="0">
            <a:spAutoFit/>
          </a:bodyPr>
          <a:lstStyle/>
          <a:p>
            <a:r>
              <a:rPr lang="en-US" sz="2300" b="1" dirty="0"/>
              <a:t>Case 4 — Transpose</a:t>
            </a:r>
          </a:p>
          <a:p>
            <a:r>
              <a:rPr lang="en-US" sz="2300" dirty="0"/>
              <a:t>Print transpose of matrix A: A[j][</a:t>
            </a:r>
            <a:r>
              <a:rPr lang="en-US" sz="2300" dirty="0" err="1"/>
              <a:t>i</a:t>
            </a:r>
            <a:r>
              <a:rPr lang="en-US" sz="2300" dirty="0"/>
              <a:t>]</a:t>
            </a:r>
          </a:p>
          <a:p>
            <a:r>
              <a:rPr lang="en-US" sz="2300" dirty="0"/>
              <a:t>Print transpose of matrix B: B[j][</a:t>
            </a:r>
            <a:r>
              <a:rPr lang="en-US" sz="2300" dirty="0" err="1"/>
              <a:t>i</a:t>
            </a:r>
            <a:r>
              <a:rPr lang="en-US" sz="2300" dirty="0"/>
              <a:t>]</a:t>
            </a:r>
          </a:p>
          <a:p>
            <a:r>
              <a:rPr lang="en-US" sz="2300" b="1" dirty="0"/>
              <a:t>Case 5 — Determinant</a:t>
            </a:r>
          </a:p>
          <a:p>
            <a:r>
              <a:rPr lang="en-US" sz="2300" dirty="0"/>
              <a:t>If matrix size is </a:t>
            </a:r>
            <a:r>
              <a:rPr lang="en-US" sz="2300" b="1" dirty="0"/>
              <a:t>2×2</a:t>
            </a:r>
            <a:r>
              <a:rPr lang="en-US" sz="2300" dirty="0"/>
              <a:t>:</a:t>
            </a:r>
            <a:br>
              <a:rPr lang="en-US" sz="2300" dirty="0"/>
            </a:br>
            <a:r>
              <a:rPr lang="en-US" sz="2300" dirty="0"/>
              <a:t>det = a[0][0]*a[1][1] – a[0][1]*a[1][0] for both matrices</a:t>
            </a:r>
          </a:p>
          <a:p>
            <a:r>
              <a:rPr lang="en-US" sz="2300" dirty="0"/>
              <a:t>If matrix size is </a:t>
            </a:r>
            <a:r>
              <a:rPr lang="en-US" sz="2300" b="1" dirty="0"/>
              <a:t>3×3</a:t>
            </a:r>
            <a:r>
              <a:rPr lang="en-US" sz="2300" dirty="0"/>
              <a:t>:</a:t>
            </a:r>
            <a:br>
              <a:rPr lang="en-US" sz="2300" dirty="0"/>
            </a:br>
            <a:r>
              <a:rPr lang="en-US" sz="2300" dirty="0"/>
              <a:t>Apply standard determinant formula</a:t>
            </a:r>
          </a:p>
          <a:p>
            <a:r>
              <a:rPr lang="en-US" sz="2300" dirty="0"/>
              <a:t>Display the determinant values</a:t>
            </a:r>
          </a:p>
          <a:p>
            <a:r>
              <a:rPr lang="en-US" sz="2300" b="1" dirty="0"/>
              <a:t>Default</a:t>
            </a:r>
          </a:p>
          <a:p>
            <a:r>
              <a:rPr lang="en-US" sz="2300" dirty="0"/>
              <a:t>Display “Invalid Choice”</a:t>
            </a:r>
            <a:br>
              <a:rPr lang="en-US" sz="2300" dirty="0"/>
            </a:br>
            <a:r>
              <a:rPr lang="en-US" sz="2300" b="1" dirty="0"/>
              <a:t>Step 10:</a:t>
            </a:r>
            <a:r>
              <a:rPr lang="en-US" sz="2300" dirty="0"/>
              <a:t> End the program</a:t>
            </a:r>
          </a:p>
          <a:p>
            <a:endParaRPr lang="en-US" dirty="0"/>
          </a:p>
        </p:txBody>
      </p:sp>
    </p:spTree>
    <p:extLst>
      <p:ext uri="{BB962C8B-B14F-4D97-AF65-F5344CB8AC3E}">
        <p14:creationId xmlns:p14="http://schemas.microsoft.com/office/powerpoint/2010/main" val="102017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0AAD1-7788-524F-BC2F-7A725E9D397E}"/>
              </a:ext>
            </a:extLst>
          </p:cNvPr>
          <p:cNvSpPr>
            <a:spLocks noGrp="1"/>
          </p:cNvSpPr>
          <p:nvPr>
            <p:ph type="title"/>
          </p:nvPr>
        </p:nvSpPr>
        <p:spPr>
          <a:xfrm>
            <a:off x="838200" y="365125"/>
            <a:ext cx="10515600" cy="708301"/>
          </a:xfrm>
        </p:spPr>
        <p:txBody>
          <a:bodyPr>
            <a:normAutofit fontScale="90000"/>
          </a:bodyPr>
          <a:lstStyle/>
          <a:p>
            <a:r>
              <a:rPr lang="en-US" dirty="0"/>
              <a:t>The Program</a:t>
            </a:r>
          </a:p>
        </p:txBody>
      </p:sp>
      <p:sp>
        <p:nvSpPr>
          <p:cNvPr id="3" name="Content Placeholder 2">
            <a:extLst>
              <a:ext uri="{FF2B5EF4-FFF2-40B4-BE49-F238E27FC236}">
                <a16:creationId xmlns:a16="http://schemas.microsoft.com/office/drawing/2014/main" id="{BFEE7039-31A7-66B8-09BD-73F8F19B2C30}"/>
              </a:ext>
            </a:extLst>
          </p:cNvPr>
          <p:cNvSpPr>
            <a:spLocks noGrp="1"/>
          </p:cNvSpPr>
          <p:nvPr>
            <p:ph idx="1"/>
          </p:nvPr>
        </p:nvSpPr>
        <p:spPr>
          <a:xfrm>
            <a:off x="838200" y="1143000"/>
            <a:ext cx="10515600" cy="5033963"/>
          </a:xfrm>
        </p:spPr>
        <p:txBody>
          <a:bodyPr/>
          <a:lstStyle/>
          <a:p>
            <a:pPr marL="514350" indent="-514350">
              <a:buFont typeface="+mj-lt"/>
              <a:buAutoNum type="arabicPeriod"/>
            </a:pPr>
            <a:r>
              <a:rPr lang="en-US" dirty="0"/>
              <a:t>Setting the size</a:t>
            </a:r>
          </a:p>
          <a:p>
            <a:pPr marL="0" indent="0">
              <a:buNone/>
            </a:pPr>
            <a:r>
              <a:rPr lang="en-US" sz="1400" dirty="0"/>
              <a:t>First we prompt the user to enter the size for the square </a:t>
            </a:r>
          </a:p>
          <a:p>
            <a:pPr marL="0" indent="0">
              <a:buNone/>
            </a:pPr>
            <a:r>
              <a:rPr lang="en-US" sz="1400" dirty="0"/>
              <a:t>matrix. The user will either enter 2 for 2x2 or 3 for 3x3</a:t>
            </a:r>
          </a:p>
          <a:p>
            <a:pPr marL="0" indent="0">
              <a:buNone/>
            </a:pPr>
            <a:r>
              <a:rPr lang="en-US" sz="1400" dirty="0"/>
              <a:t>matrix.</a:t>
            </a:r>
          </a:p>
          <a:p>
            <a:pPr marL="0" indent="0">
              <a:buNone/>
            </a:pPr>
            <a:r>
              <a:rPr lang="en-US" sz="1400" dirty="0"/>
              <a:t>In line 9 the compiler itself will set the size according to </a:t>
            </a:r>
          </a:p>
          <a:p>
            <a:pPr marL="0" indent="0">
              <a:buNone/>
            </a:pPr>
            <a:r>
              <a:rPr lang="en-US" sz="1400" dirty="0"/>
              <a:t>User input. If the user enter any other number it will</a:t>
            </a:r>
          </a:p>
          <a:p>
            <a:pPr marL="0" indent="0">
              <a:buNone/>
            </a:pPr>
            <a:r>
              <a:rPr lang="en-US" sz="1400" dirty="0"/>
              <a:t>Simply give the statement “Invalid matrix size”. </a:t>
            </a:r>
          </a:p>
        </p:txBody>
      </p:sp>
      <p:pic>
        <p:nvPicPr>
          <p:cNvPr id="5" name="Picture 4">
            <a:extLst>
              <a:ext uri="{FF2B5EF4-FFF2-40B4-BE49-F238E27FC236}">
                <a16:creationId xmlns:a16="http://schemas.microsoft.com/office/drawing/2014/main" id="{8CFC6EF2-DA2A-5EDF-E47B-8F2422623C66}"/>
              </a:ext>
            </a:extLst>
          </p:cNvPr>
          <p:cNvPicPr>
            <a:picLocks noChangeAspect="1"/>
          </p:cNvPicPr>
          <p:nvPr/>
        </p:nvPicPr>
        <p:blipFill>
          <a:blip r:embed="rId2"/>
          <a:stretch>
            <a:fillRect/>
          </a:stretch>
        </p:blipFill>
        <p:spPr>
          <a:xfrm>
            <a:off x="5249082" y="1143000"/>
            <a:ext cx="6226080" cy="4253948"/>
          </a:xfrm>
          <a:prstGeom prst="rect">
            <a:avLst/>
          </a:prstGeom>
        </p:spPr>
      </p:pic>
    </p:spTree>
    <p:extLst>
      <p:ext uri="{BB962C8B-B14F-4D97-AF65-F5344CB8AC3E}">
        <p14:creationId xmlns:p14="http://schemas.microsoft.com/office/powerpoint/2010/main" val="2519387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67A8-0042-0934-A3FA-B33487D14A3A}"/>
              </a:ext>
            </a:extLst>
          </p:cNvPr>
          <p:cNvSpPr>
            <a:spLocks noGrp="1"/>
          </p:cNvSpPr>
          <p:nvPr>
            <p:ph type="title"/>
          </p:nvPr>
        </p:nvSpPr>
        <p:spPr>
          <a:xfrm>
            <a:off x="838200" y="365126"/>
            <a:ext cx="10515600" cy="678484"/>
          </a:xfrm>
        </p:spPr>
        <p:txBody>
          <a:bodyPr>
            <a:normAutofit fontScale="90000"/>
          </a:bodyPr>
          <a:lstStyle/>
          <a:p>
            <a:r>
              <a:rPr lang="en-US" dirty="0"/>
              <a:t>Declaring the elements</a:t>
            </a:r>
          </a:p>
        </p:txBody>
      </p:sp>
      <p:pic>
        <p:nvPicPr>
          <p:cNvPr id="5" name="Content Placeholder 4">
            <a:extLst>
              <a:ext uri="{FF2B5EF4-FFF2-40B4-BE49-F238E27FC236}">
                <a16:creationId xmlns:a16="http://schemas.microsoft.com/office/drawing/2014/main" id="{5378FAFB-7647-1BA0-7A54-CF9E305F3CAE}"/>
              </a:ext>
            </a:extLst>
          </p:cNvPr>
          <p:cNvPicPr>
            <a:picLocks noGrp="1" noChangeAspect="1"/>
          </p:cNvPicPr>
          <p:nvPr>
            <p:ph idx="1"/>
          </p:nvPr>
        </p:nvPicPr>
        <p:blipFill>
          <a:blip r:embed="rId2"/>
          <a:stretch>
            <a:fillRect/>
          </a:stretch>
        </p:blipFill>
        <p:spPr>
          <a:xfrm>
            <a:off x="5997178" y="1043610"/>
            <a:ext cx="5982218" cy="4899990"/>
          </a:xfrm>
          <a:prstGeom prst="rect">
            <a:avLst/>
          </a:prstGeom>
        </p:spPr>
      </p:pic>
      <p:sp>
        <p:nvSpPr>
          <p:cNvPr id="7" name="TextBox 6">
            <a:extLst>
              <a:ext uri="{FF2B5EF4-FFF2-40B4-BE49-F238E27FC236}">
                <a16:creationId xmlns:a16="http://schemas.microsoft.com/office/drawing/2014/main" id="{D2E271F2-7CE6-FB9E-B6CF-0218F9B4D1C6}"/>
              </a:ext>
            </a:extLst>
          </p:cNvPr>
          <p:cNvSpPr txBox="1"/>
          <p:nvPr/>
        </p:nvSpPr>
        <p:spPr>
          <a:xfrm>
            <a:off x="838200" y="1212575"/>
            <a:ext cx="4840356" cy="1477328"/>
          </a:xfrm>
          <a:prstGeom prst="rect">
            <a:avLst/>
          </a:prstGeom>
          <a:noFill/>
        </p:spPr>
        <p:txBody>
          <a:bodyPr wrap="square" rtlCol="0">
            <a:spAutoFit/>
          </a:bodyPr>
          <a:lstStyle/>
          <a:p>
            <a:r>
              <a:rPr lang="en-US" dirty="0"/>
              <a:t>For declaring elements for matrix a and b we use two nested for loops the first loop is for the rows and the inner loop is for columns </a:t>
            </a:r>
          </a:p>
          <a:p>
            <a:endParaRPr lang="en-US" dirty="0"/>
          </a:p>
          <a:p>
            <a:endParaRPr lang="en-US" dirty="0"/>
          </a:p>
        </p:txBody>
      </p:sp>
      <p:graphicFrame>
        <p:nvGraphicFramePr>
          <p:cNvPr id="8" name="Table 7">
            <a:extLst>
              <a:ext uri="{FF2B5EF4-FFF2-40B4-BE49-F238E27FC236}">
                <a16:creationId xmlns:a16="http://schemas.microsoft.com/office/drawing/2014/main" id="{BD0C4256-B054-956C-F553-998DAF5660CB}"/>
              </a:ext>
            </a:extLst>
          </p:cNvPr>
          <p:cNvGraphicFramePr>
            <a:graphicFrameLocks noGrp="1"/>
          </p:cNvGraphicFramePr>
          <p:nvPr>
            <p:extLst>
              <p:ext uri="{D42A27DB-BD31-4B8C-83A1-F6EECF244321}">
                <p14:modId xmlns:p14="http://schemas.microsoft.com/office/powerpoint/2010/main" val="945147410"/>
              </p:ext>
            </p:extLst>
          </p:nvPr>
        </p:nvGraphicFramePr>
        <p:xfrm>
          <a:off x="838200" y="2689903"/>
          <a:ext cx="3965178" cy="2194560"/>
        </p:xfrm>
        <a:graphic>
          <a:graphicData uri="http://schemas.openxmlformats.org/drawingml/2006/table">
            <a:tbl>
              <a:tblPr firstRow="1" bandRow="1">
                <a:tableStyleId>{5C22544A-7EE6-4342-B048-85BDC9FD1C3A}</a:tableStyleId>
              </a:tblPr>
              <a:tblGrid>
                <a:gridCol w="1321726">
                  <a:extLst>
                    <a:ext uri="{9D8B030D-6E8A-4147-A177-3AD203B41FA5}">
                      <a16:colId xmlns:a16="http://schemas.microsoft.com/office/drawing/2014/main" val="2893608306"/>
                    </a:ext>
                  </a:extLst>
                </a:gridCol>
                <a:gridCol w="1321726">
                  <a:extLst>
                    <a:ext uri="{9D8B030D-6E8A-4147-A177-3AD203B41FA5}">
                      <a16:colId xmlns:a16="http://schemas.microsoft.com/office/drawing/2014/main" val="43605567"/>
                    </a:ext>
                  </a:extLst>
                </a:gridCol>
                <a:gridCol w="1321726">
                  <a:extLst>
                    <a:ext uri="{9D8B030D-6E8A-4147-A177-3AD203B41FA5}">
                      <a16:colId xmlns:a16="http://schemas.microsoft.com/office/drawing/2014/main" val="2590558237"/>
                    </a:ext>
                  </a:extLst>
                </a:gridCol>
              </a:tblGrid>
              <a:tr h="343882">
                <a:tc>
                  <a:txBody>
                    <a:bodyPr/>
                    <a:lstStyle/>
                    <a:p>
                      <a:r>
                        <a:rPr lang="en-US" dirty="0" err="1"/>
                        <a:t>i</a:t>
                      </a:r>
                      <a:endParaRPr lang="en-US" dirty="0"/>
                    </a:p>
                  </a:txBody>
                  <a:tcPr/>
                </a:tc>
                <a:tc>
                  <a:txBody>
                    <a:bodyPr/>
                    <a:lstStyle/>
                    <a:p>
                      <a:r>
                        <a:rPr lang="en-US" dirty="0"/>
                        <a:t>j</a:t>
                      </a:r>
                    </a:p>
                  </a:txBody>
                  <a:tcPr/>
                </a:tc>
                <a:tc>
                  <a:txBody>
                    <a:bodyPr/>
                    <a:lstStyle/>
                    <a:p>
                      <a:r>
                        <a:rPr lang="en-US" dirty="0"/>
                        <a:t>a[</a:t>
                      </a:r>
                      <a:r>
                        <a:rPr lang="en-US" dirty="0" err="1"/>
                        <a:t>i</a:t>
                      </a:r>
                      <a:r>
                        <a:rPr lang="en-US" dirty="0"/>
                        <a:t>][j]</a:t>
                      </a:r>
                    </a:p>
                  </a:txBody>
                  <a:tcPr/>
                </a:tc>
                <a:extLst>
                  <a:ext uri="{0D108BD9-81ED-4DB2-BD59-A6C34878D82A}">
                    <a16:rowId xmlns:a16="http://schemas.microsoft.com/office/drawing/2014/main" val="1337880845"/>
                  </a:ext>
                </a:extLst>
              </a:tr>
              <a:tr h="343882">
                <a:tc>
                  <a:txBody>
                    <a:bodyPr/>
                    <a:lstStyle/>
                    <a:p>
                      <a:r>
                        <a:rPr lang="en-US" dirty="0"/>
                        <a:t>0</a:t>
                      </a:r>
                    </a:p>
                  </a:txBody>
                  <a:tcPr/>
                </a:tc>
                <a:tc>
                  <a:txBody>
                    <a:bodyPr/>
                    <a:lstStyle/>
                    <a:p>
                      <a:r>
                        <a:rPr lang="en-US" dirty="0"/>
                        <a:t>0</a:t>
                      </a:r>
                    </a:p>
                  </a:txBody>
                  <a:tcPr/>
                </a:tc>
                <a:tc>
                  <a:txBody>
                    <a:bodyPr/>
                    <a:lstStyle/>
                    <a:p>
                      <a:r>
                        <a:rPr lang="en-US" dirty="0"/>
                        <a:t>a[0][0]</a:t>
                      </a:r>
                    </a:p>
                  </a:txBody>
                  <a:tcPr/>
                </a:tc>
                <a:extLst>
                  <a:ext uri="{0D108BD9-81ED-4DB2-BD59-A6C34878D82A}">
                    <a16:rowId xmlns:a16="http://schemas.microsoft.com/office/drawing/2014/main" val="2921475527"/>
                  </a:ext>
                </a:extLst>
              </a:tr>
              <a:tr h="343882">
                <a:tc>
                  <a:txBody>
                    <a:bodyPr/>
                    <a:lstStyle/>
                    <a:p>
                      <a:r>
                        <a:rPr lang="en-US" dirty="0"/>
                        <a:t>0</a:t>
                      </a:r>
                    </a:p>
                  </a:txBody>
                  <a:tcPr/>
                </a:tc>
                <a:tc>
                  <a:txBody>
                    <a:bodyPr/>
                    <a:lstStyle/>
                    <a:p>
                      <a:r>
                        <a:rPr lang="en-US" dirty="0"/>
                        <a:t>1</a:t>
                      </a:r>
                    </a:p>
                  </a:txBody>
                  <a:tcPr/>
                </a:tc>
                <a:tc>
                  <a:txBody>
                    <a:bodyPr/>
                    <a:lstStyle/>
                    <a:p>
                      <a:r>
                        <a:rPr lang="en-US" dirty="0"/>
                        <a:t>a[0][1]</a:t>
                      </a:r>
                    </a:p>
                  </a:txBody>
                  <a:tcPr/>
                </a:tc>
                <a:extLst>
                  <a:ext uri="{0D108BD9-81ED-4DB2-BD59-A6C34878D82A}">
                    <a16:rowId xmlns:a16="http://schemas.microsoft.com/office/drawing/2014/main" val="4008898474"/>
                  </a:ext>
                </a:extLst>
              </a:tr>
              <a:tr h="343882">
                <a:tc>
                  <a:txBody>
                    <a:bodyPr/>
                    <a:lstStyle/>
                    <a:p>
                      <a:r>
                        <a:rPr lang="en-US" dirty="0"/>
                        <a:t>0</a:t>
                      </a:r>
                    </a:p>
                  </a:txBody>
                  <a:tcPr/>
                </a:tc>
                <a:tc>
                  <a:txBody>
                    <a:bodyPr/>
                    <a:lstStyle/>
                    <a:p>
                      <a:r>
                        <a:rPr lang="en-US" dirty="0"/>
                        <a:t>2</a:t>
                      </a:r>
                    </a:p>
                  </a:txBody>
                  <a:tcPr/>
                </a:tc>
                <a:tc>
                  <a:txBody>
                    <a:bodyPr/>
                    <a:lstStyle/>
                    <a:p>
                      <a:r>
                        <a:rPr lang="en-US" dirty="0"/>
                        <a:t>a[0][2]</a:t>
                      </a:r>
                    </a:p>
                  </a:txBody>
                  <a:tcPr/>
                </a:tc>
                <a:extLst>
                  <a:ext uri="{0D108BD9-81ED-4DB2-BD59-A6C34878D82A}">
                    <a16:rowId xmlns:a16="http://schemas.microsoft.com/office/drawing/2014/main" val="256430431"/>
                  </a:ext>
                </a:extLst>
              </a:tr>
              <a:tr h="343882">
                <a:tc>
                  <a:txBody>
                    <a:bodyPr/>
                    <a:lstStyle/>
                    <a:p>
                      <a:r>
                        <a:rPr lang="en-US" dirty="0"/>
                        <a:t>1</a:t>
                      </a:r>
                    </a:p>
                  </a:txBody>
                  <a:tcPr/>
                </a:tc>
                <a:tc>
                  <a:txBody>
                    <a:bodyPr/>
                    <a:lstStyle/>
                    <a:p>
                      <a:r>
                        <a:rPr lang="en-US" dirty="0"/>
                        <a:t>0</a:t>
                      </a:r>
                    </a:p>
                  </a:txBody>
                  <a:tcPr/>
                </a:tc>
                <a:tc>
                  <a:txBody>
                    <a:bodyPr/>
                    <a:lstStyle/>
                    <a:p>
                      <a:r>
                        <a:rPr lang="en-US" dirty="0"/>
                        <a:t>a[1][0]</a:t>
                      </a:r>
                    </a:p>
                  </a:txBody>
                  <a:tcPr/>
                </a:tc>
                <a:extLst>
                  <a:ext uri="{0D108BD9-81ED-4DB2-BD59-A6C34878D82A}">
                    <a16:rowId xmlns:a16="http://schemas.microsoft.com/office/drawing/2014/main" val="27678330"/>
                  </a:ext>
                </a:extLst>
              </a:tr>
              <a:tr h="343882">
                <a:tc>
                  <a:txBody>
                    <a:bodyPr/>
                    <a:lstStyle/>
                    <a:p>
                      <a:r>
                        <a:rPr lang="en-US" dirty="0"/>
                        <a:t>1</a:t>
                      </a:r>
                    </a:p>
                  </a:txBody>
                  <a:tcPr/>
                </a:tc>
                <a:tc>
                  <a:txBody>
                    <a:bodyPr/>
                    <a:lstStyle/>
                    <a:p>
                      <a:r>
                        <a:rPr lang="en-US" dirty="0"/>
                        <a:t>1</a:t>
                      </a:r>
                    </a:p>
                  </a:txBody>
                  <a:tcPr/>
                </a:tc>
                <a:tc>
                  <a:txBody>
                    <a:bodyPr/>
                    <a:lstStyle/>
                    <a:p>
                      <a:r>
                        <a:rPr lang="en-US" dirty="0"/>
                        <a:t>a[1][1]</a:t>
                      </a:r>
                    </a:p>
                  </a:txBody>
                  <a:tcPr/>
                </a:tc>
                <a:extLst>
                  <a:ext uri="{0D108BD9-81ED-4DB2-BD59-A6C34878D82A}">
                    <a16:rowId xmlns:a16="http://schemas.microsoft.com/office/drawing/2014/main" val="1669561883"/>
                  </a:ext>
                </a:extLst>
              </a:tr>
            </a:tbl>
          </a:graphicData>
        </a:graphic>
      </p:graphicFrame>
    </p:spTree>
    <p:extLst>
      <p:ext uri="{BB962C8B-B14F-4D97-AF65-F5344CB8AC3E}">
        <p14:creationId xmlns:p14="http://schemas.microsoft.com/office/powerpoint/2010/main" val="325853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BB717-8295-460F-0B92-BB1F3095FEBD}"/>
              </a:ext>
            </a:extLst>
          </p:cNvPr>
          <p:cNvSpPr>
            <a:spLocks noGrp="1"/>
          </p:cNvSpPr>
          <p:nvPr>
            <p:ph type="title"/>
          </p:nvPr>
        </p:nvSpPr>
        <p:spPr/>
        <p:txBody>
          <a:bodyPr/>
          <a:lstStyle/>
          <a:p>
            <a:r>
              <a:rPr lang="en-US" dirty="0"/>
              <a:t>Showing the Matrices </a:t>
            </a:r>
          </a:p>
        </p:txBody>
      </p:sp>
      <p:sp>
        <p:nvSpPr>
          <p:cNvPr id="3" name="Content Placeholder 2">
            <a:extLst>
              <a:ext uri="{FF2B5EF4-FFF2-40B4-BE49-F238E27FC236}">
                <a16:creationId xmlns:a16="http://schemas.microsoft.com/office/drawing/2014/main" id="{5045C2C2-2923-075A-58EB-465326EBBCAB}"/>
              </a:ext>
            </a:extLst>
          </p:cNvPr>
          <p:cNvSpPr>
            <a:spLocks noGrp="1"/>
          </p:cNvSpPr>
          <p:nvPr>
            <p:ph idx="1"/>
          </p:nvPr>
        </p:nvSpPr>
        <p:spPr/>
        <p:txBody>
          <a:bodyPr>
            <a:normAutofit/>
          </a:bodyPr>
          <a:lstStyle/>
          <a:p>
            <a:pPr marL="0" indent="0">
              <a:buNone/>
            </a:pPr>
            <a:r>
              <a:rPr lang="en-US" sz="1800" dirty="0"/>
              <a:t>In these two nested for loops we display the </a:t>
            </a:r>
          </a:p>
          <a:p>
            <a:pPr marL="0" indent="0">
              <a:buNone/>
            </a:pPr>
            <a:r>
              <a:rPr lang="en-US" sz="1800" dirty="0"/>
              <a:t>Elements in matrix like format with only difference</a:t>
            </a:r>
          </a:p>
          <a:p>
            <a:pPr marL="0" indent="0">
              <a:buNone/>
            </a:pPr>
            <a:r>
              <a:rPr lang="en-US" sz="1800" dirty="0" err="1"/>
              <a:t>bieng</a:t>
            </a:r>
            <a:r>
              <a:rPr lang="en-US" sz="1800" dirty="0"/>
              <a:t> the ‘\n’ operator after the inner loop ends.</a:t>
            </a:r>
          </a:p>
          <a:p>
            <a:pPr marL="0" indent="0">
              <a:buNone/>
            </a:pPr>
            <a:r>
              <a:rPr lang="en-US" sz="1800" dirty="0"/>
              <a:t>This is the trick for making that matrix format</a:t>
            </a:r>
          </a:p>
          <a:p>
            <a:pPr marL="0" indent="0">
              <a:buNone/>
            </a:pPr>
            <a:endParaRPr lang="en-US" sz="1800" dirty="0"/>
          </a:p>
        </p:txBody>
      </p:sp>
      <p:pic>
        <p:nvPicPr>
          <p:cNvPr id="5" name="Picture 4">
            <a:extLst>
              <a:ext uri="{FF2B5EF4-FFF2-40B4-BE49-F238E27FC236}">
                <a16:creationId xmlns:a16="http://schemas.microsoft.com/office/drawing/2014/main" id="{D117B307-296B-F2A6-DCF3-8B13A2B5B7DE}"/>
              </a:ext>
            </a:extLst>
          </p:cNvPr>
          <p:cNvPicPr>
            <a:picLocks noChangeAspect="1"/>
          </p:cNvPicPr>
          <p:nvPr/>
        </p:nvPicPr>
        <p:blipFill>
          <a:blip r:embed="rId2"/>
          <a:stretch>
            <a:fillRect/>
          </a:stretch>
        </p:blipFill>
        <p:spPr>
          <a:xfrm>
            <a:off x="6096000" y="1311965"/>
            <a:ext cx="5701748" cy="4939748"/>
          </a:xfrm>
          <a:prstGeom prst="rect">
            <a:avLst/>
          </a:prstGeom>
        </p:spPr>
      </p:pic>
      <p:graphicFrame>
        <p:nvGraphicFramePr>
          <p:cNvPr id="6" name="Table 5">
            <a:extLst>
              <a:ext uri="{FF2B5EF4-FFF2-40B4-BE49-F238E27FC236}">
                <a16:creationId xmlns:a16="http://schemas.microsoft.com/office/drawing/2014/main" id="{C89DFD88-8A8E-C27F-DA8A-228772AE6D17}"/>
              </a:ext>
            </a:extLst>
          </p:cNvPr>
          <p:cNvGraphicFramePr>
            <a:graphicFrameLocks noGrp="1"/>
          </p:cNvGraphicFramePr>
          <p:nvPr>
            <p:extLst>
              <p:ext uri="{D42A27DB-BD31-4B8C-83A1-F6EECF244321}">
                <p14:modId xmlns:p14="http://schemas.microsoft.com/office/powerpoint/2010/main" val="2123985787"/>
              </p:ext>
            </p:extLst>
          </p:nvPr>
        </p:nvGraphicFramePr>
        <p:xfrm>
          <a:off x="670538" y="4114800"/>
          <a:ext cx="5213626" cy="2194560"/>
        </p:xfrm>
        <a:graphic>
          <a:graphicData uri="http://schemas.openxmlformats.org/drawingml/2006/table">
            <a:tbl>
              <a:tblPr firstRow="1" bandRow="1">
                <a:tableStyleId>{5C22544A-7EE6-4342-B048-85BDC9FD1C3A}</a:tableStyleId>
              </a:tblPr>
              <a:tblGrid>
                <a:gridCol w="2606813">
                  <a:extLst>
                    <a:ext uri="{9D8B030D-6E8A-4147-A177-3AD203B41FA5}">
                      <a16:colId xmlns:a16="http://schemas.microsoft.com/office/drawing/2014/main" val="3946588490"/>
                    </a:ext>
                  </a:extLst>
                </a:gridCol>
                <a:gridCol w="2606813">
                  <a:extLst>
                    <a:ext uri="{9D8B030D-6E8A-4147-A177-3AD203B41FA5}">
                      <a16:colId xmlns:a16="http://schemas.microsoft.com/office/drawing/2014/main" val="4067977367"/>
                    </a:ext>
                  </a:extLst>
                </a:gridCol>
              </a:tblGrid>
              <a:tr h="355477">
                <a:tc>
                  <a:txBody>
                    <a:bodyPr/>
                    <a:lstStyle/>
                    <a:p>
                      <a:r>
                        <a:rPr lang="en-US" dirty="0"/>
                        <a:t>A[</a:t>
                      </a:r>
                      <a:r>
                        <a:rPr lang="en-US" dirty="0" err="1"/>
                        <a:t>i</a:t>
                      </a:r>
                      <a:r>
                        <a:rPr lang="en-US" dirty="0"/>
                        <a:t>][j]</a:t>
                      </a:r>
                    </a:p>
                  </a:txBody>
                  <a:tcPr/>
                </a:tc>
                <a:tc>
                  <a:txBody>
                    <a:bodyPr/>
                    <a:lstStyle/>
                    <a:p>
                      <a:r>
                        <a:rPr lang="en-US" dirty="0"/>
                        <a:t>New line</a:t>
                      </a:r>
                    </a:p>
                  </a:txBody>
                  <a:tcPr/>
                </a:tc>
                <a:extLst>
                  <a:ext uri="{0D108BD9-81ED-4DB2-BD59-A6C34878D82A}">
                    <a16:rowId xmlns:a16="http://schemas.microsoft.com/office/drawing/2014/main" val="2169650241"/>
                  </a:ext>
                </a:extLst>
              </a:tr>
              <a:tr h="355477">
                <a:tc>
                  <a:txBody>
                    <a:bodyPr/>
                    <a:lstStyle/>
                    <a:p>
                      <a:r>
                        <a:rPr lang="en-US" dirty="0"/>
                        <a:t>A[0][0]</a:t>
                      </a:r>
                    </a:p>
                  </a:txBody>
                  <a:tcPr/>
                </a:tc>
                <a:tc>
                  <a:txBody>
                    <a:bodyPr/>
                    <a:lstStyle/>
                    <a:p>
                      <a:endParaRPr lang="en-US"/>
                    </a:p>
                  </a:txBody>
                  <a:tcPr/>
                </a:tc>
                <a:extLst>
                  <a:ext uri="{0D108BD9-81ED-4DB2-BD59-A6C34878D82A}">
                    <a16:rowId xmlns:a16="http://schemas.microsoft.com/office/drawing/2014/main" val="15212760"/>
                  </a:ext>
                </a:extLst>
              </a:tr>
              <a:tr h="355477">
                <a:tc>
                  <a:txBody>
                    <a:bodyPr/>
                    <a:lstStyle/>
                    <a:p>
                      <a:r>
                        <a:rPr lang="en-US" dirty="0"/>
                        <a:t>A[0][1]</a:t>
                      </a:r>
                    </a:p>
                  </a:txBody>
                  <a:tcPr/>
                </a:tc>
                <a:tc>
                  <a:txBody>
                    <a:bodyPr/>
                    <a:lstStyle/>
                    <a:p>
                      <a:endParaRPr lang="en-US"/>
                    </a:p>
                  </a:txBody>
                  <a:tcPr/>
                </a:tc>
                <a:extLst>
                  <a:ext uri="{0D108BD9-81ED-4DB2-BD59-A6C34878D82A}">
                    <a16:rowId xmlns:a16="http://schemas.microsoft.com/office/drawing/2014/main" val="313842159"/>
                  </a:ext>
                </a:extLst>
              </a:tr>
              <a:tr h="355477">
                <a:tc>
                  <a:txBody>
                    <a:bodyPr/>
                    <a:lstStyle/>
                    <a:p>
                      <a:r>
                        <a:rPr lang="en-US" dirty="0"/>
                        <a:t>A[0][2]</a:t>
                      </a:r>
                    </a:p>
                  </a:txBody>
                  <a:tcPr/>
                </a:tc>
                <a:tc>
                  <a:txBody>
                    <a:bodyPr/>
                    <a:lstStyle/>
                    <a:p>
                      <a:endParaRPr lang="en-US"/>
                    </a:p>
                  </a:txBody>
                  <a:tcPr/>
                </a:tc>
                <a:extLst>
                  <a:ext uri="{0D108BD9-81ED-4DB2-BD59-A6C34878D82A}">
                    <a16:rowId xmlns:a16="http://schemas.microsoft.com/office/drawing/2014/main" val="298567759"/>
                  </a:ext>
                </a:extLst>
              </a:tr>
              <a:tr h="355477">
                <a:tc>
                  <a:txBody>
                    <a:bodyPr/>
                    <a:lstStyle/>
                    <a:p>
                      <a:endParaRPr lang="en-US"/>
                    </a:p>
                  </a:txBody>
                  <a:tcPr/>
                </a:tc>
                <a:tc>
                  <a:txBody>
                    <a:bodyPr/>
                    <a:lstStyle/>
                    <a:p>
                      <a:r>
                        <a:rPr lang="en-US" dirty="0"/>
                        <a:t>\n</a:t>
                      </a:r>
                    </a:p>
                  </a:txBody>
                  <a:tcPr/>
                </a:tc>
                <a:extLst>
                  <a:ext uri="{0D108BD9-81ED-4DB2-BD59-A6C34878D82A}">
                    <a16:rowId xmlns:a16="http://schemas.microsoft.com/office/drawing/2014/main" val="2861522936"/>
                  </a:ext>
                </a:extLst>
              </a:tr>
              <a:tr h="355477">
                <a:tc>
                  <a:txBody>
                    <a:bodyPr/>
                    <a:lstStyle/>
                    <a:p>
                      <a:r>
                        <a:rPr lang="en-US" dirty="0"/>
                        <a:t>A[1][0]</a:t>
                      </a:r>
                    </a:p>
                  </a:txBody>
                  <a:tcPr/>
                </a:tc>
                <a:tc>
                  <a:txBody>
                    <a:bodyPr/>
                    <a:lstStyle/>
                    <a:p>
                      <a:endParaRPr lang="en-US" dirty="0"/>
                    </a:p>
                  </a:txBody>
                  <a:tcPr/>
                </a:tc>
                <a:extLst>
                  <a:ext uri="{0D108BD9-81ED-4DB2-BD59-A6C34878D82A}">
                    <a16:rowId xmlns:a16="http://schemas.microsoft.com/office/drawing/2014/main" val="1554272149"/>
                  </a:ext>
                </a:extLst>
              </a:tr>
            </a:tbl>
          </a:graphicData>
        </a:graphic>
      </p:graphicFrame>
    </p:spTree>
    <p:extLst>
      <p:ext uri="{BB962C8B-B14F-4D97-AF65-F5344CB8AC3E}">
        <p14:creationId xmlns:p14="http://schemas.microsoft.com/office/powerpoint/2010/main" val="4188168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827C0-F92C-E2C2-CFB8-06547B7EDA1E}"/>
              </a:ext>
            </a:extLst>
          </p:cNvPr>
          <p:cNvSpPr>
            <a:spLocks noGrp="1"/>
          </p:cNvSpPr>
          <p:nvPr>
            <p:ph type="title"/>
          </p:nvPr>
        </p:nvSpPr>
        <p:spPr/>
        <p:txBody>
          <a:bodyPr/>
          <a:lstStyle/>
          <a:p>
            <a:r>
              <a:rPr lang="en-US" dirty="0"/>
              <a:t>Operations</a:t>
            </a:r>
          </a:p>
        </p:txBody>
      </p:sp>
      <p:pic>
        <p:nvPicPr>
          <p:cNvPr id="5" name="Content Placeholder 4">
            <a:extLst>
              <a:ext uri="{FF2B5EF4-FFF2-40B4-BE49-F238E27FC236}">
                <a16:creationId xmlns:a16="http://schemas.microsoft.com/office/drawing/2014/main" id="{0C67E7C1-947C-2831-84B2-FD088FF38DDF}"/>
              </a:ext>
            </a:extLst>
          </p:cNvPr>
          <p:cNvPicPr>
            <a:picLocks noGrp="1" noChangeAspect="1"/>
          </p:cNvPicPr>
          <p:nvPr>
            <p:ph idx="1"/>
          </p:nvPr>
        </p:nvPicPr>
        <p:blipFill>
          <a:blip r:embed="rId2"/>
          <a:stretch>
            <a:fillRect/>
          </a:stretch>
        </p:blipFill>
        <p:spPr>
          <a:xfrm>
            <a:off x="5208104" y="3214571"/>
            <a:ext cx="6861165" cy="937341"/>
          </a:xfrm>
          <a:prstGeom prst="rect">
            <a:avLst/>
          </a:prstGeom>
        </p:spPr>
      </p:pic>
      <p:sp>
        <p:nvSpPr>
          <p:cNvPr id="6" name="TextBox 5">
            <a:extLst>
              <a:ext uri="{FF2B5EF4-FFF2-40B4-BE49-F238E27FC236}">
                <a16:creationId xmlns:a16="http://schemas.microsoft.com/office/drawing/2014/main" id="{D7689FA4-E30C-C983-5F88-03B77AD12D63}"/>
              </a:ext>
            </a:extLst>
          </p:cNvPr>
          <p:cNvSpPr txBox="1"/>
          <p:nvPr/>
        </p:nvSpPr>
        <p:spPr>
          <a:xfrm>
            <a:off x="576469" y="2790251"/>
            <a:ext cx="4631635" cy="2031325"/>
          </a:xfrm>
          <a:prstGeom prst="rect">
            <a:avLst/>
          </a:prstGeom>
          <a:noFill/>
        </p:spPr>
        <p:txBody>
          <a:bodyPr wrap="square" rtlCol="0">
            <a:spAutoFit/>
          </a:bodyPr>
          <a:lstStyle/>
          <a:p>
            <a:r>
              <a:rPr lang="en-US" dirty="0"/>
              <a:t>After displaying the matrices we ask the user to</a:t>
            </a:r>
          </a:p>
          <a:p>
            <a:r>
              <a:rPr lang="en-US" dirty="0"/>
              <a:t>Enter number corresponding to the operations</a:t>
            </a:r>
          </a:p>
          <a:p>
            <a:r>
              <a:rPr lang="en-US" dirty="0"/>
              <a:t>In the program user will enter 1 for addition or 2 For subtraction and so on. After the user make the choice we use the switch statement which contains the operations as cases</a:t>
            </a:r>
          </a:p>
          <a:p>
            <a:endParaRPr lang="en-US" dirty="0"/>
          </a:p>
        </p:txBody>
      </p:sp>
    </p:spTree>
    <p:extLst>
      <p:ext uri="{BB962C8B-B14F-4D97-AF65-F5344CB8AC3E}">
        <p14:creationId xmlns:p14="http://schemas.microsoft.com/office/powerpoint/2010/main" val="3097625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7EB81-2C4C-CDAE-4E94-7ADFCCF86F6D}"/>
              </a:ext>
            </a:extLst>
          </p:cNvPr>
          <p:cNvSpPr>
            <a:spLocks noGrp="1"/>
          </p:cNvSpPr>
          <p:nvPr>
            <p:ph type="title"/>
          </p:nvPr>
        </p:nvSpPr>
        <p:spPr/>
        <p:txBody>
          <a:bodyPr/>
          <a:lstStyle/>
          <a:p>
            <a:r>
              <a:rPr lang="en-US" dirty="0"/>
              <a:t>Addition</a:t>
            </a:r>
          </a:p>
        </p:txBody>
      </p:sp>
      <p:pic>
        <p:nvPicPr>
          <p:cNvPr id="5" name="Content Placeholder 4">
            <a:extLst>
              <a:ext uri="{FF2B5EF4-FFF2-40B4-BE49-F238E27FC236}">
                <a16:creationId xmlns:a16="http://schemas.microsoft.com/office/drawing/2014/main" id="{6E797BC6-8553-5341-55DC-596524B783A2}"/>
              </a:ext>
            </a:extLst>
          </p:cNvPr>
          <p:cNvPicPr>
            <a:picLocks noGrp="1" noChangeAspect="1"/>
          </p:cNvPicPr>
          <p:nvPr>
            <p:ph idx="1"/>
          </p:nvPr>
        </p:nvPicPr>
        <p:blipFill>
          <a:blip r:embed="rId2"/>
          <a:stretch>
            <a:fillRect/>
          </a:stretch>
        </p:blipFill>
        <p:spPr>
          <a:xfrm>
            <a:off x="6331226" y="1143664"/>
            <a:ext cx="5647924" cy="4780057"/>
          </a:xfrm>
          <a:prstGeom prst="rect">
            <a:avLst/>
          </a:prstGeom>
        </p:spPr>
      </p:pic>
      <p:graphicFrame>
        <p:nvGraphicFramePr>
          <p:cNvPr id="6" name="Table 5">
            <a:extLst>
              <a:ext uri="{FF2B5EF4-FFF2-40B4-BE49-F238E27FC236}">
                <a16:creationId xmlns:a16="http://schemas.microsoft.com/office/drawing/2014/main" id="{636FD547-BC03-B3C1-EBC8-FB36A4BA91ED}"/>
              </a:ext>
            </a:extLst>
          </p:cNvPr>
          <p:cNvGraphicFramePr>
            <a:graphicFrameLocks noGrp="1"/>
          </p:cNvGraphicFramePr>
          <p:nvPr>
            <p:extLst>
              <p:ext uri="{D42A27DB-BD31-4B8C-83A1-F6EECF244321}">
                <p14:modId xmlns:p14="http://schemas.microsoft.com/office/powerpoint/2010/main" val="669200135"/>
              </p:ext>
            </p:extLst>
          </p:nvPr>
        </p:nvGraphicFramePr>
        <p:xfrm>
          <a:off x="838200" y="1888435"/>
          <a:ext cx="4711149" cy="4035288"/>
        </p:xfrm>
        <a:graphic>
          <a:graphicData uri="http://schemas.openxmlformats.org/drawingml/2006/table">
            <a:tbl>
              <a:tblPr firstRow="1" bandRow="1">
                <a:tableStyleId>{5C22544A-7EE6-4342-B048-85BDC9FD1C3A}</a:tableStyleId>
              </a:tblPr>
              <a:tblGrid>
                <a:gridCol w="1570383">
                  <a:extLst>
                    <a:ext uri="{9D8B030D-6E8A-4147-A177-3AD203B41FA5}">
                      <a16:colId xmlns:a16="http://schemas.microsoft.com/office/drawing/2014/main" val="835163482"/>
                    </a:ext>
                  </a:extLst>
                </a:gridCol>
                <a:gridCol w="1570383">
                  <a:extLst>
                    <a:ext uri="{9D8B030D-6E8A-4147-A177-3AD203B41FA5}">
                      <a16:colId xmlns:a16="http://schemas.microsoft.com/office/drawing/2014/main" val="1527666996"/>
                    </a:ext>
                  </a:extLst>
                </a:gridCol>
                <a:gridCol w="1570383">
                  <a:extLst>
                    <a:ext uri="{9D8B030D-6E8A-4147-A177-3AD203B41FA5}">
                      <a16:colId xmlns:a16="http://schemas.microsoft.com/office/drawing/2014/main" val="662181773"/>
                    </a:ext>
                  </a:extLst>
                </a:gridCol>
              </a:tblGrid>
              <a:tr h="672548">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4152770966"/>
                  </a:ext>
                </a:extLst>
              </a:tr>
              <a:tr h="672548">
                <a:tc>
                  <a:txBody>
                    <a:bodyPr/>
                    <a:lstStyle/>
                    <a:p>
                      <a:r>
                        <a:rPr lang="en-US" dirty="0"/>
                        <a:t>A[0][0]=1</a:t>
                      </a:r>
                    </a:p>
                  </a:txBody>
                  <a:tcPr/>
                </a:tc>
                <a:tc>
                  <a:txBody>
                    <a:bodyPr/>
                    <a:lstStyle/>
                    <a:p>
                      <a:r>
                        <a:rPr lang="en-US" dirty="0"/>
                        <a:t>B[0][0]=3</a:t>
                      </a:r>
                    </a:p>
                  </a:txBody>
                  <a:tcPr/>
                </a:tc>
                <a:tc>
                  <a:txBody>
                    <a:bodyPr/>
                    <a:lstStyle/>
                    <a:p>
                      <a:r>
                        <a:rPr lang="en-US" dirty="0"/>
                        <a:t>Res[0][0] = 4</a:t>
                      </a:r>
                    </a:p>
                  </a:txBody>
                  <a:tcPr/>
                </a:tc>
                <a:extLst>
                  <a:ext uri="{0D108BD9-81ED-4DB2-BD59-A6C34878D82A}">
                    <a16:rowId xmlns:a16="http://schemas.microsoft.com/office/drawing/2014/main" val="3357214020"/>
                  </a:ext>
                </a:extLst>
              </a:tr>
              <a:tr h="672548">
                <a:tc>
                  <a:txBody>
                    <a:bodyPr/>
                    <a:lstStyle/>
                    <a:p>
                      <a:r>
                        <a:rPr lang="en-US" dirty="0"/>
                        <a:t>A[0][1]=8</a:t>
                      </a:r>
                    </a:p>
                  </a:txBody>
                  <a:tcPr/>
                </a:tc>
                <a:tc>
                  <a:txBody>
                    <a:bodyPr/>
                    <a:lstStyle/>
                    <a:p>
                      <a:r>
                        <a:rPr lang="en-US" dirty="0"/>
                        <a:t>B[0][1]=6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14</a:t>
                      </a:r>
                    </a:p>
                    <a:p>
                      <a:endParaRPr lang="en-US" dirty="0"/>
                    </a:p>
                  </a:txBody>
                  <a:tcPr/>
                </a:tc>
                <a:extLst>
                  <a:ext uri="{0D108BD9-81ED-4DB2-BD59-A6C34878D82A}">
                    <a16:rowId xmlns:a16="http://schemas.microsoft.com/office/drawing/2014/main" val="1005166000"/>
                  </a:ext>
                </a:extLst>
              </a:tr>
              <a:tr h="672548">
                <a:tc>
                  <a:txBody>
                    <a:bodyPr/>
                    <a:lstStyle/>
                    <a:p>
                      <a:r>
                        <a:rPr lang="en-US" dirty="0"/>
                        <a:t>A[0][2]=4</a:t>
                      </a:r>
                    </a:p>
                  </a:txBody>
                  <a:tcPr/>
                </a:tc>
                <a:tc>
                  <a:txBody>
                    <a:bodyPr/>
                    <a:lstStyle/>
                    <a:p>
                      <a:r>
                        <a:rPr lang="en-US" dirty="0"/>
                        <a:t>B[0][2]=5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Res[0][2] = 9</a:t>
                      </a:r>
                    </a:p>
                    <a:p>
                      <a:endParaRPr lang="en-US" dirty="0"/>
                    </a:p>
                  </a:txBody>
                  <a:tcPr/>
                </a:tc>
                <a:extLst>
                  <a:ext uri="{0D108BD9-81ED-4DB2-BD59-A6C34878D82A}">
                    <a16:rowId xmlns:a16="http://schemas.microsoft.com/office/drawing/2014/main" val="4237828733"/>
                  </a:ext>
                </a:extLst>
              </a:tr>
              <a:tr h="672548">
                <a:tc>
                  <a:txBody>
                    <a:bodyPr/>
                    <a:lstStyle/>
                    <a:p>
                      <a:r>
                        <a:rPr lang="en-US" dirty="0"/>
                        <a:t>A[1][0]=2</a:t>
                      </a:r>
                    </a:p>
                  </a:txBody>
                  <a:tcPr/>
                </a:tc>
                <a:tc>
                  <a:txBody>
                    <a:bodyPr/>
                    <a:lstStyle/>
                    <a:p>
                      <a:r>
                        <a:rPr lang="en-US" dirty="0"/>
                        <a:t>B[1][0]=4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Res[1][0] = 6</a:t>
                      </a:r>
                    </a:p>
                    <a:p>
                      <a:endParaRPr lang="en-US" dirty="0"/>
                    </a:p>
                  </a:txBody>
                  <a:tcPr/>
                </a:tc>
                <a:extLst>
                  <a:ext uri="{0D108BD9-81ED-4DB2-BD59-A6C34878D82A}">
                    <a16:rowId xmlns:a16="http://schemas.microsoft.com/office/drawing/2014/main" val="2760712870"/>
                  </a:ext>
                </a:extLst>
              </a:tr>
              <a:tr h="672548">
                <a:tc>
                  <a:txBody>
                    <a:bodyPr/>
                    <a:lstStyle/>
                    <a:p>
                      <a:r>
                        <a:rPr lang="en-US" dirty="0"/>
                        <a:t>a[1][1]=8</a:t>
                      </a:r>
                    </a:p>
                  </a:txBody>
                  <a:tcPr/>
                </a:tc>
                <a:tc>
                  <a:txBody>
                    <a:bodyPr/>
                    <a:lstStyle/>
                    <a:p>
                      <a:r>
                        <a:rPr lang="en-US" dirty="0"/>
                        <a:t>B[1][1]=6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Res[1][1] = 14</a:t>
                      </a:r>
                    </a:p>
                    <a:p>
                      <a:endParaRPr lang="en-US" dirty="0"/>
                    </a:p>
                  </a:txBody>
                  <a:tcPr/>
                </a:tc>
                <a:extLst>
                  <a:ext uri="{0D108BD9-81ED-4DB2-BD59-A6C34878D82A}">
                    <a16:rowId xmlns:a16="http://schemas.microsoft.com/office/drawing/2014/main" val="2270812017"/>
                  </a:ext>
                </a:extLst>
              </a:tr>
            </a:tbl>
          </a:graphicData>
        </a:graphic>
      </p:graphicFrame>
    </p:spTree>
    <p:extLst>
      <p:ext uri="{BB962C8B-B14F-4D97-AF65-F5344CB8AC3E}">
        <p14:creationId xmlns:p14="http://schemas.microsoft.com/office/powerpoint/2010/main" val="543500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AC74F-B7F6-ADBA-744F-1F12BE9E6A19}"/>
              </a:ext>
            </a:extLst>
          </p:cNvPr>
          <p:cNvSpPr>
            <a:spLocks noGrp="1"/>
          </p:cNvSpPr>
          <p:nvPr>
            <p:ph type="title"/>
          </p:nvPr>
        </p:nvSpPr>
        <p:spPr/>
        <p:txBody>
          <a:bodyPr/>
          <a:lstStyle/>
          <a:p>
            <a:r>
              <a:rPr lang="en-US" dirty="0"/>
              <a:t>Subtraction</a:t>
            </a:r>
          </a:p>
        </p:txBody>
      </p:sp>
      <p:graphicFrame>
        <p:nvGraphicFramePr>
          <p:cNvPr id="10" name="Content Placeholder 9">
            <a:extLst>
              <a:ext uri="{FF2B5EF4-FFF2-40B4-BE49-F238E27FC236}">
                <a16:creationId xmlns:a16="http://schemas.microsoft.com/office/drawing/2014/main" id="{BB3DBFA8-29F1-6C0C-5CFE-C5098564DFA6}"/>
              </a:ext>
            </a:extLst>
          </p:cNvPr>
          <p:cNvGraphicFramePr>
            <a:graphicFrameLocks noGrp="1"/>
          </p:cNvGraphicFramePr>
          <p:nvPr>
            <p:ph idx="1"/>
            <p:extLst>
              <p:ext uri="{D42A27DB-BD31-4B8C-83A1-F6EECF244321}">
                <p14:modId xmlns:p14="http://schemas.microsoft.com/office/powerpoint/2010/main" val="2448479558"/>
              </p:ext>
            </p:extLst>
          </p:nvPr>
        </p:nvGraphicFramePr>
        <p:xfrm>
          <a:off x="838199" y="1825625"/>
          <a:ext cx="4886739" cy="4351338"/>
        </p:xfrm>
        <a:graphic>
          <a:graphicData uri="http://schemas.openxmlformats.org/drawingml/2006/table">
            <a:tbl>
              <a:tblPr firstRow="1" bandRow="1">
                <a:tableStyleId>{5C22544A-7EE6-4342-B048-85BDC9FD1C3A}</a:tableStyleId>
              </a:tblPr>
              <a:tblGrid>
                <a:gridCol w="1628913">
                  <a:extLst>
                    <a:ext uri="{9D8B030D-6E8A-4147-A177-3AD203B41FA5}">
                      <a16:colId xmlns:a16="http://schemas.microsoft.com/office/drawing/2014/main" val="3849922432"/>
                    </a:ext>
                  </a:extLst>
                </a:gridCol>
                <a:gridCol w="1628913">
                  <a:extLst>
                    <a:ext uri="{9D8B030D-6E8A-4147-A177-3AD203B41FA5}">
                      <a16:colId xmlns:a16="http://schemas.microsoft.com/office/drawing/2014/main" val="1979891550"/>
                    </a:ext>
                  </a:extLst>
                </a:gridCol>
                <a:gridCol w="1628913">
                  <a:extLst>
                    <a:ext uri="{9D8B030D-6E8A-4147-A177-3AD203B41FA5}">
                      <a16:colId xmlns:a16="http://schemas.microsoft.com/office/drawing/2014/main" val="813972659"/>
                    </a:ext>
                  </a:extLst>
                </a:gridCol>
              </a:tblGrid>
              <a:tr h="725223">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344208146"/>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 = 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B[0][0] = 3</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-2</a:t>
                      </a:r>
                    </a:p>
                    <a:p>
                      <a:endParaRPr lang="en-US" dirty="0"/>
                    </a:p>
                  </a:txBody>
                  <a:tcPr/>
                </a:tc>
                <a:extLst>
                  <a:ext uri="{0D108BD9-81ED-4DB2-BD59-A6C34878D82A}">
                    <a16:rowId xmlns:a16="http://schemas.microsoft.com/office/drawing/2014/main" val="55476813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 = 8</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B[0][1] = 6</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2</a:t>
                      </a:r>
                    </a:p>
                    <a:p>
                      <a:endParaRPr lang="en-US" dirty="0"/>
                    </a:p>
                  </a:txBody>
                  <a:tcPr/>
                </a:tc>
                <a:extLst>
                  <a:ext uri="{0D108BD9-81ED-4DB2-BD59-A6C34878D82A}">
                    <a16:rowId xmlns:a16="http://schemas.microsoft.com/office/drawing/2014/main" val="3021949178"/>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A[0][2] = 4</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B[0][2] = 5</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Res[0][2] = -1</a:t>
                      </a:r>
                    </a:p>
                    <a:p>
                      <a:endParaRPr lang="en-US" dirty="0"/>
                    </a:p>
                  </a:txBody>
                  <a:tcPr/>
                </a:tc>
                <a:extLst>
                  <a:ext uri="{0D108BD9-81ED-4DB2-BD59-A6C34878D82A}">
                    <a16:rowId xmlns:a16="http://schemas.microsoft.com/office/drawing/2014/main" val="173482243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A[1][0] = 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B[1][0] = 4</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Res[1][0] = -2</a:t>
                      </a:r>
                    </a:p>
                    <a:p>
                      <a:endParaRPr lang="en-US" dirty="0"/>
                    </a:p>
                  </a:txBody>
                  <a:tcPr/>
                </a:tc>
                <a:extLst>
                  <a:ext uri="{0D108BD9-81ED-4DB2-BD59-A6C34878D82A}">
                    <a16:rowId xmlns:a16="http://schemas.microsoft.com/office/drawing/2014/main" val="359458690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A[1][1] = 8</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B[1][1] = 6</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Res[1][1] = 2</a:t>
                      </a:r>
                    </a:p>
                    <a:p>
                      <a:endParaRPr lang="en-US" dirty="0"/>
                    </a:p>
                  </a:txBody>
                  <a:tcPr/>
                </a:tc>
                <a:extLst>
                  <a:ext uri="{0D108BD9-81ED-4DB2-BD59-A6C34878D82A}">
                    <a16:rowId xmlns:a16="http://schemas.microsoft.com/office/drawing/2014/main" val="2350474081"/>
                  </a:ext>
                </a:extLst>
              </a:tr>
            </a:tbl>
          </a:graphicData>
        </a:graphic>
      </p:graphicFrame>
      <p:pic>
        <p:nvPicPr>
          <p:cNvPr id="5" name="Picture 4">
            <a:extLst>
              <a:ext uri="{FF2B5EF4-FFF2-40B4-BE49-F238E27FC236}">
                <a16:creationId xmlns:a16="http://schemas.microsoft.com/office/drawing/2014/main" id="{4B40BD1B-2C21-D042-1191-22F4B71B364C}"/>
              </a:ext>
            </a:extLst>
          </p:cNvPr>
          <p:cNvPicPr>
            <a:picLocks noChangeAspect="1"/>
          </p:cNvPicPr>
          <p:nvPr/>
        </p:nvPicPr>
        <p:blipFill>
          <a:blip r:embed="rId2"/>
          <a:stretch>
            <a:fillRect/>
          </a:stretch>
        </p:blipFill>
        <p:spPr>
          <a:xfrm>
            <a:off x="6096000" y="1825624"/>
            <a:ext cx="5334462" cy="4351337"/>
          </a:xfrm>
          <a:prstGeom prst="rect">
            <a:avLst/>
          </a:prstGeom>
        </p:spPr>
      </p:pic>
    </p:spTree>
    <p:extLst>
      <p:ext uri="{BB962C8B-B14F-4D97-AF65-F5344CB8AC3E}">
        <p14:creationId xmlns:p14="http://schemas.microsoft.com/office/powerpoint/2010/main" val="2688863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287B-78DB-5D53-D133-AC3F960FDDA9}"/>
              </a:ext>
            </a:extLst>
          </p:cNvPr>
          <p:cNvSpPr>
            <a:spLocks noGrp="1"/>
          </p:cNvSpPr>
          <p:nvPr>
            <p:ph type="title"/>
          </p:nvPr>
        </p:nvSpPr>
        <p:spPr>
          <a:xfrm>
            <a:off x="838200" y="365125"/>
            <a:ext cx="10515600" cy="827571"/>
          </a:xfrm>
        </p:spPr>
        <p:txBody>
          <a:bodyPr/>
          <a:lstStyle/>
          <a:p>
            <a:r>
              <a:rPr lang="en-US" dirty="0"/>
              <a:t>Multiplication</a:t>
            </a:r>
          </a:p>
        </p:txBody>
      </p:sp>
      <p:pic>
        <p:nvPicPr>
          <p:cNvPr id="9" name="Content Placeholder 8">
            <a:extLst>
              <a:ext uri="{FF2B5EF4-FFF2-40B4-BE49-F238E27FC236}">
                <a16:creationId xmlns:a16="http://schemas.microsoft.com/office/drawing/2014/main" id="{9C467AB2-A311-93A8-0039-85C79B343752}"/>
              </a:ext>
            </a:extLst>
          </p:cNvPr>
          <p:cNvPicPr>
            <a:picLocks noGrp="1" noChangeAspect="1"/>
          </p:cNvPicPr>
          <p:nvPr>
            <p:ph idx="1"/>
          </p:nvPr>
        </p:nvPicPr>
        <p:blipFill>
          <a:blip r:embed="rId2"/>
          <a:stretch>
            <a:fillRect/>
          </a:stretch>
        </p:blipFill>
        <p:spPr>
          <a:xfrm>
            <a:off x="6788427" y="1102627"/>
            <a:ext cx="5098152" cy="4860851"/>
          </a:xfrm>
          <a:prstGeom prst="rect">
            <a:avLst/>
          </a:prstGeom>
        </p:spPr>
      </p:pic>
      <p:sp>
        <p:nvSpPr>
          <p:cNvPr id="10" name="TextBox 9">
            <a:extLst>
              <a:ext uri="{FF2B5EF4-FFF2-40B4-BE49-F238E27FC236}">
                <a16:creationId xmlns:a16="http://schemas.microsoft.com/office/drawing/2014/main" id="{36E7B7CE-651A-C3FC-9570-CA5C93BE7953}"/>
              </a:ext>
            </a:extLst>
          </p:cNvPr>
          <p:cNvSpPr txBox="1"/>
          <p:nvPr/>
        </p:nvSpPr>
        <p:spPr>
          <a:xfrm>
            <a:off x="305421" y="1192696"/>
            <a:ext cx="6214649" cy="4801314"/>
          </a:xfrm>
          <a:prstGeom prst="rect">
            <a:avLst/>
          </a:prstGeom>
          <a:noFill/>
        </p:spPr>
        <p:txBody>
          <a:bodyPr wrap="square" rtlCol="0">
            <a:spAutoFit/>
          </a:bodyPr>
          <a:lstStyle/>
          <a:p>
            <a:r>
              <a:rPr lang="en-US" dirty="0"/>
              <a:t>For Multiplication we use 3 loops </a:t>
            </a:r>
          </a:p>
          <a:p>
            <a:r>
              <a:rPr lang="en-US" dirty="0"/>
              <a:t>First loop is for each row of matrix a the second loop is for the columns of matrix b the third loop is for multiplying a and b and saving it to the resultant matrix</a:t>
            </a:r>
          </a:p>
          <a:p>
            <a:r>
              <a:rPr lang="en-US" dirty="0"/>
              <a:t>We set resultant matrix to zero before multiplying to avoid saving garbage value from previous calculations</a:t>
            </a:r>
          </a:p>
          <a:p>
            <a:r>
              <a:rPr lang="en-US" dirty="0"/>
              <a:t>The multiplication will occur from multiplying the elements of</a:t>
            </a:r>
          </a:p>
          <a:p>
            <a:r>
              <a:rPr lang="en-US" dirty="0"/>
              <a:t>Matrix a row wise to elements of matrix b column wise and add them. </a:t>
            </a:r>
          </a:p>
          <a:p>
            <a:endParaRPr lang="en-US" dirty="0"/>
          </a:p>
          <a:p>
            <a:r>
              <a:rPr lang="en-US" dirty="0"/>
              <a:t>Eg res[0][0] = 0 + a[0][0] x b[0][0];</a:t>
            </a:r>
          </a:p>
          <a:p>
            <a:r>
              <a:rPr lang="en-US" dirty="0"/>
              <a:t>      res[0][0] = a[0][0] x b[0][0] + a[0][1] x b[1][0];</a:t>
            </a:r>
          </a:p>
          <a:p>
            <a:r>
              <a:rPr lang="en-US" dirty="0"/>
              <a:t>      res[0][0] = a[0][0] x b[0][0] + a[0][1] x b[1][0] + a[0][2] x    b[2][0];</a:t>
            </a:r>
          </a:p>
          <a:p>
            <a:endParaRPr lang="en-US" dirty="0"/>
          </a:p>
          <a:p>
            <a:r>
              <a:rPr lang="en-US" dirty="0"/>
              <a:t>After multiplying we use another nested for loop to display the </a:t>
            </a:r>
          </a:p>
          <a:p>
            <a:r>
              <a:rPr lang="en-US" dirty="0"/>
              <a:t>Multiplied matrix</a:t>
            </a:r>
          </a:p>
        </p:txBody>
      </p:sp>
    </p:spTree>
    <p:extLst>
      <p:ext uri="{BB962C8B-B14F-4D97-AF65-F5344CB8AC3E}">
        <p14:creationId xmlns:p14="http://schemas.microsoft.com/office/powerpoint/2010/main" val="1038365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FBE0526-471A-EDCE-528A-63C02130BDDE}"/>
              </a:ext>
            </a:extLst>
          </p:cNvPr>
          <p:cNvGraphicFramePr>
            <a:graphicFrameLocks noGrp="1"/>
          </p:cNvGraphicFramePr>
          <p:nvPr>
            <p:extLst>
              <p:ext uri="{D42A27DB-BD31-4B8C-83A1-F6EECF244321}">
                <p14:modId xmlns:p14="http://schemas.microsoft.com/office/powerpoint/2010/main" val="2250486019"/>
              </p:ext>
            </p:extLst>
          </p:nvPr>
        </p:nvGraphicFramePr>
        <p:xfrm>
          <a:off x="2032000" y="719666"/>
          <a:ext cx="8652564" cy="6040120"/>
        </p:xfrm>
        <a:graphic>
          <a:graphicData uri="http://schemas.openxmlformats.org/drawingml/2006/table">
            <a:tbl>
              <a:tblPr firstRow="1" bandRow="1">
                <a:tableStyleId>{5C22544A-7EE6-4342-B048-85BDC9FD1C3A}</a:tableStyleId>
              </a:tblPr>
              <a:tblGrid>
                <a:gridCol w="2884188">
                  <a:extLst>
                    <a:ext uri="{9D8B030D-6E8A-4147-A177-3AD203B41FA5}">
                      <a16:colId xmlns:a16="http://schemas.microsoft.com/office/drawing/2014/main" val="1205026527"/>
                    </a:ext>
                  </a:extLst>
                </a:gridCol>
                <a:gridCol w="2884188">
                  <a:extLst>
                    <a:ext uri="{9D8B030D-6E8A-4147-A177-3AD203B41FA5}">
                      <a16:colId xmlns:a16="http://schemas.microsoft.com/office/drawing/2014/main" val="879181611"/>
                    </a:ext>
                  </a:extLst>
                </a:gridCol>
                <a:gridCol w="2884188">
                  <a:extLst>
                    <a:ext uri="{9D8B030D-6E8A-4147-A177-3AD203B41FA5}">
                      <a16:colId xmlns:a16="http://schemas.microsoft.com/office/drawing/2014/main" val="104233673"/>
                    </a:ext>
                  </a:extLst>
                </a:gridCol>
              </a:tblGrid>
              <a:tr h="370840">
                <a:tc>
                  <a:txBody>
                    <a:bodyPr/>
                    <a:lstStyle/>
                    <a:p>
                      <a:r>
                        <a:rPr lang="en-US" dirty="0"/>
                        <a:t>A[</a:t>
                      </a:r>
                      <a:r>
                        <a:rPr lang="en-US" dirty="0" err="1"/>
                        <a:t>i</a:t>
                      </a:r>
                      <a:r>
                        <a:rPr lang="en-US" dirty="0"/>
                        <a:t>][k]</a:t>
                      </a:r>
                    </a:p>
                  </a:txBody>
                  <a:tcPr/>
                </a:tc>
                <a:tc>
                  <a:txBody>
                    <a:bodyPr/>
                    <a:lstStyle/>
                    <a:p>
                      <a:r>
                        <a:rPr lang="en-US" dirty="0"/>
                        <a:t>B[k][j] </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22594586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A[0][0]*B[0][0]</a:t>
                      </a:r>
                    </a:p>
                    <a:p>
                      <a:endParaRPr lang="en-US" dirty="0"/>
                    </a:p>
                  </a:txBody>
                  <a:tcPr/>
                </a:tc>
                <a:extLst>
                  <a:ext uri="{0D108BD9-81ED-4DB2-BD59-A6C34878D82A}">
                    <a16:rowId xmlns:a16="http://schemas.microsoft.com/office/drawing/2014/main" val="10465955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A[0][0]*B[0][0]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80329187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B[2][0]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A[0][0]*B[0][0]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+A[0][1]*B[1][0] + A[0][2]*B[2][0]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134165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B[0][1]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A[0][0]*B[0][1]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36312299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B[1][1]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A[0][0]*B[0][1]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292325482"/>
                  </a:ext>
                </a:extLst>
              </a:tr>
            </a:tbl>
          </a:graphicData>
        </a:graphic>
      </p:graphicFrame>
    </p:spTree>
    <p:extLst>
      <p:ext uri="{BB962C8B-B14F-4D97-AF65-F5344CB8AC3E}">
        <p14:creationId xmlns:p14="http://schemas.microsoft.com/office/powerpoint/2010/main" val="1142657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DA512-47CC-2C37-622E-2C617A7BF67F}"/>
              </a:ext>
            </a:extLst>
          </p:cNvPr>
          <p:cNvSpPr>
            <a:spLocks noGrp="1"/>
          </p:cNvSpPr>
          <p:nvPr>
            <p:ph type="title"/>
          </p:nvPr>
        </p:nvSpPr>
        <p:spPr/>
        <p:txBody>
          <a:bodyPr/>
          <a:lstStyle/>
          <a:p>
            <a:r>
              <a:rPr lang="en-US" dirty="0"/>
              <a:t>Transpose</a:t>
            </a:r>
          </a:p>
        </p:txBody>
      </p:sp>
      <p:pic>
        <p:nvPicPr>
          <p:cNvPr id="5" name="Content Placeholder 4">
            <a:extLst>
              <a:ext uri="{FF2B5EF4-FFF2-40B4-BE49-F238E27FC236}">
                <a16:creationId xmlns:a16="http://schemas.microsoft.com/office/drawing/2014/main" id="{0706AC23-97AF-566F-FAE1-FAEDDDD5C641}"/>
              </a:ext>
            </a:extLst>
          </p:cNvPr>
          <p:cNvPicPr>
            <a:picLocks noGrp="1" noChangeAspect="1"/>
          </p:cNvPicPr>
          <p:nvPr>
            <p:ph idx="1"/>
          </p:nvPr>
        </p:nvPicPr>
        <p:blipFill>
          <a:blip r:embed="rId2"/>
          <a:stretch>
            <a:fillRect/>
          </a:stretch>
        </p:blipFill>
        <p:spPr>
          <a:xfrm>
            <a:off x="6211957" y="1414276"/>
            <a:ext cx="5238952" cy="4658533"/>
          </a:xfrm>
          <a:prstGeom prst="rect">
            <a:avLst/>
          </a:prstGeom>
        </p:spPr>
      </p:pic>
      <p:sp>
        <p:nvSpPr>
          <p:cNvPr id="6" name="TextBox 5">
            <a:extLst>
              <a:ext uri="{FF2B5EF4-FFF2-40B4-BE49-F238E27FC236}">
                <a16:creationId xmlns:a16="http://schemas.microsoft.com/office/drawing/2014/main" id="{CB965556-32FC-FFE9-87C0-08A4BF72986B}"/>
              </a:ext>
            </a:extLst>
          </p:cNvPr>
          <p:cNvSpPr txBox="1"/>
          <p:nvPr/>
        </p:nvSpPr>
        <p:spPr>
          <a:xfrm>
            <a:off x="417443" y="1570383"/>
            <a:ext cx="5562601" cy="1477328"/>
          </a:xfrm>
          <a:prstGeom prst="rect">
            <a:avLst/>
          </a:prstGeom>
          <a:noFill/>
        </p:spPr>
        <p:txBody>
          <a:bodyPr wrap="square" rtlCol="0">
            <a:spAutoFit/>
          </a:bodyPr>
          <a:lstStyle/>
          <a:p>
            <a:r>
              <a:rPr lang="en-US" dirty="0"/>
              <a:t>For transposing we again use the two nested for displaying the transpose of both matrices the method to display the transpose is to simply change the order of matrix a[</a:t>
            </a:r>
            <a:r>
              <a:rPr lang="en-US" dirty="0" err="1"/>
              <a:t>i</a:t>
            </a:r>
            <a:r>
              <a:rPr lang="en-US" dirty="0"/>
              <a:t>][j] and b[</a:t>
            </a:r>
            <a:r>
              <a:rPr lang="en-US" dirty="0" err="1"/>
              <a:t>i</a:t>
            </a:r>
            <a:r>
              <a:rPr lang="en-US" dirty="0"/>
              <a:t>][j] to a[j][</a:t>
            </a:r>
            <a:r>
              <a:rPr lang="en-US" dirty="0" err="1"/>
              <a:t>i</a:t>
            </a:r>
            <a:r>
              <a:rPr lang="en-US" dirty="0"/>
              <a:t>] and b[j][</a:t>
            </a:r>
            <a:r>
              <a:rPr lang="en-US" dirty="0" err="1"/>
              <a:t>i</a:t>
            </a:r>
            <a:r>
              <a:rPr lang="en-US" dirty="0"/>
              <a:t>] .This will </a:t>
            </a:r>
            <a:r>
              <a:rPr lang="en-US" dirty="0" err="1"/>
              <a:t>swapp</a:t>
            </a:r>
            <a:endParaRPr lang="en-US" dirty="0"/>
          </a:p>
          <a:p>
            <a:r>
              <a:rPr lang="en-US" dirty="0"/>
              <a:t>The elements from row to columns and vice versa </a:t>
            </a:r>
          </a:p>
        </p:txBody>
      </p:sp>
      <p:graphicFrame>
        <p:nvGraphicFramePr>
          <p:cNvPr id="7" name="Table 6">
            <a:extLst>
              <a:ext uri="{FF2B5EF4-FFF2-40B4-BE49-F238E27FC236}">
                <a16:creationId xmlns:a16="http://schemas.microsoft.com/office/drawing/2014/main" id="{F87C164A-60A7-B038-4021-FEAEEA04393D}"/>
              </a:ext>
            </a:extLst>
          </p:cNvPr>
          <p:cNvGraphicFramePr>
            <a:graphicFrameLocks noGrp="1"/>
          </p:cNvGraphicFramePr>
          <p:nvPr>
            <p:extLst>
              <p:ext uri="{D42A27DB-BD31-4B8C-83A1-F6EECF244321}">
                <p14:modId xmlns:p14="http://schemas.microsoft.com/office/powerpoint/2010/main" val="3931811266"/>
              </p:ext>
            </p:extLst>
          </p:nvPr>
        </p:nvGraphicFramePr>
        <p:xfrm>
          <a:off x="501374" y="3047711"/>
          <a:ext cx="5153992" cy="2704915"/>
        </p:xfrm>
        <a:graphic>
          <a:graphicData uri="http://schemas.openxmlformats.org/drawingml/2006/table">
            <a:tbl>
              <a:tblPr firstRow="1" bandRow="1">
                <a:tableStyleId>{5C22544A-7EE6-4342-B048-85BDC9FD1C3A}</a:tableStyleId>
              </a:tblPr>
              <a:tblGrid>
                <a:gridCol w="1288498">
                  <a:extLst>
                    <a:ext uri="{9D8B030D-6E8A-4147-A177-3AD203B41FA5}">
                      <a16:colId xmlns:a16="http://schemas.microsoft.com/office/drawing/2014/main" val="1051872597"/>
                    </a:ext>
                  </a:extLst>
                </a:gridCol>
                <a:gridCol w="1288498">
                  <a:extLst>
                    <a:ext uri="{9D8B030D-6E8A-4147-A177-3AD203B41FA5}">
                      <a16:colId xmlns:a16="http://schemas.microsoft.com/office/drawing/2014/main" val="606284436"/>
                    </a:ext>
                  </a:extLst>
                </a:gridCol>
                <a:gridCol w="1288498">
                  <a:extLst>
                    <a:ext uri="{9D8B030D-6E8A-4147-A177-3AD203B41FA5}">
                      <a16:colId xmlns:a16="http://schemas.microsoft.com/office/drawing/2014/main" val="2966954347"/>
                    </a:ext>
                  </a:extLst>
                </a:gridCol>
                <a:gridCol w="1288498">
                  <a:extLst>
                    <a:ext uri="{9D8B030D-6E8A-4147-A177-3AD203B41FA5}">
                      <a16:colId xmlns:a16="http://schemas.microsoft.com/office/drawing/2014/main" val="1999359806"/>
                    </a:ext>
                  </a:extLst>
                </a:gridCol>
              </a:tblGrid>
              <a:tr h="540983">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Output 1</a:t>
                      </a:r>
                    </a:p>
                  </a:txBody>
                  <a:tcPr/>
                </a:tc>
                <a:tc>
                  <a:txBody>
                    <a:bodyPr/>
                    <a:lstStyle/>
                    <a:p>
                      <a:r>
                        <a:rPr lang="en-US" dirty="0"/>
                        <a:t>Output 2</a:t>
                      </a:r>
                    </a:p>
                  </a:txBody>
                  <a:tcPr/>
                </a:tc>
                <a:extLst>
                  <a:ext uri="{0D108BD9-81ED-4DB2-BD59-A6C34878D82A}">
                    <a16:rowId xmlns:a16="http://schemas.microsoft.com/office/drawing/2014/main" val="955060173"/>
                  </a:ext>
                </a:extLst>
              </a:tr>
              <a:tr h="540983">
                <a:tc>
                  <a:txBody>
                    <a:bodyPr/>
                    <a:lstStyle/>
                    <a:p>
                      <a:r>
                        <a:rPr lang="en-US" dirty="0"/>
                        <a:t>A[0][0]</a:t>
                      </a:r>
                    </a:p>
                  </a:txBody>
                  <a:tcPr/>
                </a:tc>
                <a:tc>
                  <a:txBody>
                    <a:bodyPr/>
                    <a:lstStyle/>
                    <a:p>
                      <a:r>
                        <a:rPr lang="en-US" dirty="0"/>
                        <a:t>B[0][0]</a:t>
                      </a:r>
                    </a:p>
                  </a:txBody>
                  <a:tcPr/>
                </a:tc>
                <a:tc>
                  <a:txBody>
                    <a:bodyPr/>
                    <a:lstStyle/>
                    <a:p>
                      <a:r>
                        <a:rPr lang="en-US" dirty="0"/>
                        <a:t>A[0][0]</a:t>
                      </a:r>
                    </a:p>
                  </a:txBody>
                  <a:tcPr/>
                </a:tc>
                <a:tc>
                  <a:txBody>
                    <a:bodyPr/>
                    <a:lstStyle/>
                    <a:p>
                      <a:r>
                        <a:rPr lang="en-US" dirty="0"/>
                        <a:t>B[0][0]</a:t>
                      </a:r>
                    </a:p>
                  </a:txBody>
                  <a:tcPr/>
                </a:tc>
                <a:extLst>
                  <a:ext uri="{0D108BD9-81ED-4DB2-BD59-A6C34878D82A}">
                    <a16:rowId xmlns:a16="http://schemas.microsoft.com/office/drawing/2014/main" val="1082931885"/>
                  </a:ext>
                </a:extLst>
              </a:tr>
              <a:tr h="540983">
                <a:tc>
                  <a:txBody>
                    <a:bodyPr/>
                    <a:lstStyle/>
                    <a:p>
                      <a:r>
                        <a:rPr lang="en-US" dirty="0"/>
                        <a:t>A[0][1]</a:t>
                      </a:r>
                    </a:p>
                  </a:txBody>
                  <a:tcPr/>
                </a:tc>
                <a:tc>
                  <a:txBody>
                    <a:bodyPr/>
                    <a:lstStyle/>
                    <a:p>
                      <a:r>
                        <a:rPr lang="en-US" dirty="0"/>
                        <a:t>B[0][1]</a:t>
                      </a:r>
                    </a:p>
                  </a:txBody>
                  <a:tcPr/>
                </a:tc>
                <a:tc>
                  <a:txBody>
                    <a:bodyPr/>
                    <a:lstStyle/>
                    <a:p>
                      <a:r>
                        <a:rPr lang="en-US" dirty="0"/>
                        <a:t>A[1][0]</a:t>
                      </a:r>
                    </a:p>
                  </a:txBody>
                  <a:tcPr/>
                </a:tc>
                <a:tc>
                  <a:txBody>
                    <a:bodyPr/>
                    <a:lstStyle/>
                    <a:p>
                      <a:r>
                        <a:rPr lang="en-US" dirty="0"/>
                        <a:t>B[1][0]</a:t>
                      </a:r>
                    </a:p>
                  </a:txBody>
                  <a:tcPr/>
                </a:tc>
                <a:extLst>
                  <a:ext uri="{0D108BD9-81ED-4DB2-BD59-A6C34878D82A}">
                    <a16:rowId xmlns:a16="http://schemas.microsoft.com/office/drawing/2014/main" val="3190082330"/>
                  </a:ext>
                </a:extLst>
              </a:tr>
              <a:tr h="540983">
                <a:tc>
                  <a:txBody>
                    <a:bodyPr/>
                    <a:lstStyle/>
                    <a:p>
                      <a:r>
                        <a:rPr lang="en-US" dirty="0"/>
                        <a:t>A[0][2]</a:t>
                      </a:r>
                    </a:p>
                  </a:txBody>
                  <a:tcPr/>
                </a:tc>
                <a:tc>
                  <a:txBody>
                    <a:bodyPr/>
                    <a:lstStyle/>
                    <a:p>
                      <a:r>
                        <a:rPr lang="en-US" dirty="0"/>
                        <a:t>B[0][2]</a:t>
                      </a:r>
                    </a:p>
                  </a:txBody>
                  <a:tcPr/>
                </a:tc>
                <a:tc>
                  <a:txBody>
                    <a:bodyPr/>
                    <a:lstStyle/>
                    <a:p>
                      <a:r>
                        <a:rPr lang="en-US" dirty="0"/>
                        <a:t>A[2][0]</a:t>
                      </a:r>
                    </a:p>
                  </a:txBody>
                  <a:tcPr/>
                </a:tc>
                <a:tc>
                  <a:txBody>
                    <a:bodyPr/>
                    <a:lstStyle/>
                    <a:p>
                      <a:r>
                        <a:rPr lang="en-US" dirty="0"/>
                        <a:t>B[2][0]</a:t>
                      </a:r>
                    </a:p>
                  </a:txBody>
                  <a:tcPr/>
                </a:tc>
                <a:extLst>
                  <a:ext uri="{0D108BD9-81ED-4DB2-BD59-A6C34878D82A}">
                    <a16:rowId xmlns:a16="http://schemas.microsoft.com/office/drawing/2014/main" val="1148137259"/>
                  </a:ext>
                </a:extLst>
              </a:tr>
              <a:tr h="54098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85524773"/>
                  </a:ext>
                </a:extLst>
              </a:tr>
            </a:tbl>
          </a:graphicData>
        </a:graphic>
      </p:graphicFrame>
    </p:spTree>
    <p:extLst>
      <p:ext uri="{BB962C8B-B14F-4D97-AF65-F5344CB8AC3E}">
        <p14:creationId xmlns:p14="http://schemas.microsoft.com/office/powerpoint/2010/main" val="813681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E788C9-14E3-B793-3E2A-5D9081C46272}"/>
              </a:ext>
            </a:extLst>
          </p:cNvPr>
          <p:cNvSpPr txBox="1"/>
          <p:nvPr/>
        </p:nvSpPr>
        <p:spPr>
          <a:xfrm>
            <a:off x="357809" y="248478"/>
            <a:ext cx="10744200" cy="584775"/>
          </a:xfrm>
          <a:prstGeom prst="rect">
            <a:avLst/>
          </a:prstGeom>
          <a:noFill/>
        </p:spPr>
        <p:txBody>
          <a:bodyPr wrap="square" rtlCol="0">
            <a:spAutoFit/>
          </a:bodyPr>
          <a:lstStyle/>
          <a:p>
            <a:r>
              <a:rPr lang="en-US" sz="3200" dirty="0"/>
              <a:t>Determinant (2x2)</a:t>
            </a:r>
          </a:p>
        </p:txBody>
      </p:sp>
      <p:pic>
        <p:nvPicPr>
          <p:cNvPr id="4" name="Picture 3">
            <a:extLst>
              <a:ext uri="{FF2B5EF4-FFF2-40B4-BE49-F238E27FC236}">
                <a16:creationId xmlns:a16="http://schemas.microsoft.com/office/drawing/2014/main" id="{B5D7D162-63B4-82D8-8805-0DB53A7F20B3}"/>
              </a:ext>
            </a:extLst>
          </p:cNvPr>
          <p:cNvPicPr>
            <a:picLocks noChangeAspect="1"/>
          </p:cNvPicPr>
          <p:nvPr/>
        </p:nvPicPr>
        <p:blipFill>
          <a:blip r:embed="rId2"/>
          <a:stretch>
            <a:fillRect/>
          </a:stretch>
        </p:blipFill>
        <p:spPr>
          <a:xfrm>
            <a:off x="5729909" y="833253"/>
            <a:ext cx="6349694" cy="2406156"/>
          </a:xfrm>
          <a:prstGeom prst="rect">
            <a:avLst/>
          </a:prstGeom>
        </p:spPr>
      </p:pic>
      <p:sp>
        <p:nvSpPr>
          <p:cNvPr id="5" name="TextBox 4">
            <a:extLst>
              <a:ext uri="{FF2B5EF4-FFF2-40B4-BE49-F238E27FC236}">
                <a16:creationId xmlns:a16="http://schemas.microsoft.com/office/drawing/2014/main" id="{731F378A-2B91-1983-25A5-CF4C4C151D5C}"/>
              </a:ext>
            </a:extLst>
          </p:cNvPr>
          <p:cNvSpPr txBox="1"/>
          <p:nvPr/>
        </p:nvSpPr>
        <p:spPr>
          <a:xfrm>
            <a:off x="228599" y="1574666"/>
            <a:ext cx="5237922" cy="923330"/>
          </a:xfrm>
          <a:prstGeom prst="rect">
            <a:avLst/>
          </a:prstGeom>
          <a:noFill/>
        </p:spPr>
        <p:txBody>
          <a:bodyPr wrap="square" rtlCol="0">
            <a:spAutoFit/>
          </a:bodyPr>
          <a:lstStyle/>
          <a:p>
            <a:r>
              <a:rPr lang="en-US" dirty="0"/>
              <a:t>For finding determinant we use an if else statement if first if n == 2 then For 2 by 2 matrix we simply multiply the elements from 2 diagonals and subtract them</a:t>
            </a:r>
          </a:p>
        </p:txBody>
      </p:sp>
      <p:sp>
        <p:nvSpPr>
          <p:cNvPr id="6" name="Double Bracket 5">
            <a:extLst>
              <a:ext uri="{FF2B5EF4-FFF2-40B4-BE49-F238E27FC236}">
                <a16:creationId xmlns:a16="http://schemas.microsoft.com/office/drawing/2014/main" id="{672A824B-9F5B-55A5-1B31-219AB3CD0762}"/>
              </a:ext>
            </a:extLst>
          </p:cNvPr>
          <p:cNvSpPr/>
          <p:nvPr/>
        </p:nvSpPr>
        <p:spPr>
          <a:xfrm>
            <a:off x="827433" y="3239409"/>
            <a:ext cx="3190461" cy="212697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AF0C7C2E-2714-9683-2E8C-DED63D82175E}"/>
                  </a:ext>
                </a:extLst>
              </p14:cNvPr>
              <p14:cNvContentPartPr/>
              <p14:nvPr/>
            </p14:nvContentPartPr>
            <p14:xfrm>
              <a:off x="1665332" y="3845049"/>
              <a:ext cx="1601640" cy="993600"/>
            </p14:xfrm>
          </p:contentPart>
        </mc:Choice>
        <mc:Fallback>
          <p:pic>
            <p:nvPicPr>
              <p:cNvPr id="9" name="Ink 8">
                <a:extLst>
                  <a:ext uri="{FF2B5EF4-FFF2-40B4-BE49-F238E27FC236}">
                    <a16:creationId xmlns:a16="http://schemas.microsoft.com/office/drawing/2014/main" id="{AF0C7C2E-2714-9683-2E8C-DED63D82175E}"/>
                  </a:ext>
                </a:extLst>
              </p:cNvPr>
              <p:cNvPicPr/>
              <p:nvPr/>
            </p:nvPicPr>
            <p:blipFill>
              <a:blip r:embed="rId4"/>
              <a:stretch>
                <a:fillRect/>
              </a:stretch>
            </p:blipFill>
            <p:spPr>
              <a:xfrm>
                <a:off x="1659212" y="3838929"/>
                <a:ext cx="1613880" cy="1005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874BCC8-F959-AA54-2CBA-0528D8567959}"/>
                  </a:ext>
                </a:extLst>
              </p14:cNvPr>
              <p14:cNvContentPartPr/>
              <p14:nvPr/>
            </p14:nvContentPartPr>
            <p14:xfrm>
              <a:off x="1590211" y="3773229"/>
              <a:ext cx="1471680" cy="1137240"/>
            </p14:xfrm>
          </p:contentPart>
        </mc:Choice>
        <mc:Fallback xmlns="">
          <p:pic>
            <p:nvPicPr>
              <p:cNvPr id="10" name="Ink 9">
                <a:extLst>
                  <a:ext uri="{FF2B5EF4-FFF2-40B4-BE49-F238E27FC236}">
                    <a16:creationId xmlns:a16="http://schemas.microsoft.com/office/drawing/2014/main" id="{0874BCC8-F959-AA54-2CBA-0528D8567959}"/>
                  </a:ext>
                </a:extLst>
              </p:cNvPr>
              <p:cNvPicPr/>
              <p:nvPr/>
            </p:nvPicPr>
            <p:blipFill>
              <a:blip r:embed="rId6"/>
              <a:stretch>
                <a:fillRect/>
              </a:stretch>
            </p:blipFill>
            <p:spPr>
              <a:xfrm>
                <a:off x="1584091" y="3767109"/>
                <a:ext cx="1483920" cy="1149480"/>
              </a:xfrm>
              <a:prstGeom prst="rect">
                <a:avLst/>
              </a:prstGeom>
            </p:spPr>
          </p:pic>
        </mc:Fallback>
      </mc:AlternateContent>
      <p:sp>
        <p:nvSpPr>
          <p:cNvPr id="20" name="TextBox 19">
            <a:extLst>
              <a:ext uri="{FF2B5EF4-FFF2-40B4-BE49-F238E27FC236}">
                <a16:creationId xmlns:a16="http://schemas.microsoft.com/office/drawing/2014/main" id="{59F79858-CFD0-9197-EFA9-5B4169C0E31E}"/>
              </a:ext>
            </a:extLst>
          </p:cNvPr>
          <p:cNvSpPr txBox="1"/>
          <p:nvPr/>
        </p:nvSpPr>
        <p:spPr>
          <a:xfrm>
            <a:off x="496957" y="5476485"/>
            <a:ext cx="10465904" cy="954107"/>
          </a:xfrm>
          <a:prstGeom prst="rect">
            <a:avLst/>
          </a:prstGeom>
          <a:noFill/>
        </p:spPr>
        <p:txBody>
          <a:bodyPr wrap="square" rtlCol="0">
            <a:spAutoFit/>
          </a:bodyPr>
          <a:lstStyle/>
          <a:p>
            <a:r>
              <a:rPr lang="en-US" sz="2800" dirty="0"/>
              <a:t>In this case a[0][0] = 2, a[1][1] = 8 , a[0][1] = 4 and a[1][0] = 7</a:t>
            </a:r>
          </a:p>
          <a:p>
            <a:r>
              <a:rPr lang="en-US" sz="2800" dirty="0"/>
              <a:t>So det = a[0][0]*a[1][1] – a[0][1]*a[1][0] = 16-28 = -12</a:t>
            </a:r>
          </a:p>
        </p:txBody>
      </p:sp>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33CE18AB-4B64-8204-220D-0FE3B096130A}"/>
                  </a:ext>
                </a:extLst>
              </p14:cNvPr>
              <p14:cNvContentPartPr/>
              <p14:nvPr/>
            </p14:nvContentPartPr>
            <p14:xfrm>
              <a:off x="3022325" y="3309496"/>
              <a:ext cx="409320" cy="508320"/>
            </p14:xfrm>
          </p:contentPart>
        </mc:Choice>
        <mc:Fallback>
          <p:pic>
            <p:nvPicPr>
              <p:cNvPr id="8" name="Ink 7">
                <a:extLst>
                  <a:ext uri="{FF2B5EF4-FFF2-40B4-BE49-F238E27FC236}">
                    <a16:creationId xmlns:a16="http://schemas.microsoft.com/office/drawing/2014/main" id="{33CE18AB-4B64-8204-220D-0FE3B096130A}"/>
                  </a:ext>
                </a:extLst>
              </p:cNvPr>
              <p:cNvPicPr/>
              <p:nvPr/>
            </p:nvPicPr>
            <p:blipFill>
              <a:blip r:embed="rId8"/>
              <a:stretch>
                <a:fillRect/>
              </a:stretch>
            </p:blipFill>
            <p:spPr>
              <a:xfrm>
                <a:off x="3016205" y="3303376"/>
                <a:ext cx="421560" cy="520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44CB02A7-53C5-2D25-C2E0-E13B8586B1AE}"/>
                  </a:ext>
                </a:extLst>
              </p14:cNvPr>
              <p14:cNvContentPartPr/>
              <p14:nvPr/>
            </p14:nvContentPartPr>
            <p14:xfrm>
              <a:off x="1053125" y="4957576"/>
              <a:ext cx="362160" cy="353880"/>
            </p14:xfrm>
          </p:contentPart>
        </mc:Choice>
        <mc:Fallback>
          <p:pic>
            <p:nvPicPr>
              <p:cNvPr id="11" name="Ink 10">
                <a:extLst>
                  <a:ext uri="{FF2B5EF4-FFF2-40B4-BE49-F238E27FC236}">
                    <a16:creationId xmlns:a16="http://schemas.microsoft.com/office/drawing/2014/main" id="{44CB02A7-53C5-2D25-C2E0-E13B8586B1AE}"/>
                  </a:ext>
                </a:extLst>
              </p:cNvPr>
              <p:cNvPicPr/>
              <p:nvPr/>
            </p:nvPicPr>
            <p:blipFill>
              <a:blip r:embed="rId10"/>
              <a:stretch>
                <a:fillRect/>
              </a:stretch>
            </p:blipFill>
            <p:spPr>
              <a:xfrm>
                <a:off x="1047005" y="4951456"/>
                <a:ext cx="37440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A6E96A88-EFB9-375D-8315-2B5AE0423AB9}"/>
                  </a:ext>
                </a:extLst>
              </p14:cNvPr>
              <p14:cNvContentPartPr/>
              <p14:nvPr/>
            </p14:nvContentPartPr>
            <p14:xfrm>
              <a:off x="3398885" y="4759216"/>
              <a:ext cx="279360" cy="431280"/>
            </p14:xfrm>
          </p:contentPart>
        </mc:Choice>
        <mc:Fallback>
          <p:pic>
            <p:nvPicPr>
              <p:cNvPr id="12" name="Ink 11">
                <a:extLst>
                  <a:ext uri="{FF2B5EF4-FFF2-40B4-BE49-F238E27FC236}">
                    <a16:creationId xmlns:a16="http://schemas.microsoft.com/office/drawing/2014/main" id="{A6E96A88-EFB9-375D-8315-2B5AE0423AB9}"/>
                  </a:ext>
                </a:extLst>
              </p:cNvPr>
              <p:cNvPicPr/>
              <p:nvPr/>
            </p:nvPicPr>
            <p:blipFill>
              <a:blip r:embed="rId12"/>
              <a:stretch>
                <a:fillRect/>
              </a:stretch>
            </p:blipFill>
            <p:spPr>
              <a:xfrm>
                <a:off x="3392765" y="4753096"/>
                <a:ext cx="291600" cy="443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8957602F-1090-FD55-DE36-BF46DDC1AC39}"/>
                  </a:ext>
                </a:extLst>
              </p14:cNvPr>
              <p14:cNvContentPartPr/>
              <p14:nvPr/>
            </p14:nvContentPartPr>
            <p14:xfrm>
              <a:off x="1093085" y="3409216"/>
              <a:ext cx="360720" cy="335520"/>
            </p14:xfrm>
          </p:contentPart>
        </mc:Choice>
        <mc:Fallback>
          <p:pic>
            <p:nvPicPr>
              <p:cNvPr id="13" name="Ink 12">
                <a:extLst>
                  <a:ext uri="{FF2B5EF4-FFF2-40B4-BE49-F238E27FC236}">
                    <a16:creationId xmlns:a16="http://schemas.microsoft.com/office/drawing/2014/main" id="{8957602F-1090-FD55-DE36-BF46DDC1AC39}"/>
                  </a:ext>
                </a:extLst>
              </p:cNvPr>
              <p:cNvPicPr/>
              <p:nvPr/>
            </p:nvPicPr>
            <p:blipFill>
              <a:blip r:embed="rId14"/>
              <a:stretch>
                <a:fillRect/>
              </a:stretch>
            </p:blipFill>
            <p:spPr>
              <a:xfrm>
                <a:off x="1086965" y="3403096"/>
                <a:ext cx="372960" cy="347760"/>
              </a:xfrm>
              <a:prstGeom prst="rect">
                <a:avLst/>
              </a:prstGeom>
            </p:spPr>
          </p:pic>
        </mc:Fallback>
      </mc:AlternateContent>
    </p:spTree>
    <p:extLst>
      <p:ext uri="{BB962C8B-B14F-4D97-AF65-F5344CB8AC3E}">
        <p14:creationId xmlns:p14="http://schemas.microsoft.com/office/powerpoint/2010/main" val="427409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D8C3-7485-F24F-57B4-40C3783E3361}"/>
              </a:ext>
            </a:extLst>
          </p:cNvPr>
          <p:cNvSpPr>
            <a:spLocks noGrp="1"/>
          </p:cNvSpPr>
          <p:nvPr>
            <p:ph type="title"/>
          </p:nvPr>
        </p:nvSpPr>
        <p:spPr>
          <a:xfrm>
            <a:off x="838200" y="365126"/>
            <a:ext cx="10515600" cy="618848"/>
          </a:xfrm>
        </p:spPr>
        <p:txBody>
          <a:bodyPr>
            <a:normAutofit fontScale="90000"/>
          </a:bodyPr>
          <a:lstStyle/>
          <a:p>
            <a:r>
              <a:rPr lang="en-US" dirty="0"/>
              <a:t>Determinant (3x3)</a:t>
            </a:r>
          </a:p>
        </p:txBody>
      </p:sp>
      <p:pic>
        <p:nvPicPr>
          <p:cNvPr id="5" name="Content Placeholder 4">
            <a:extLst>
              <a:ext uri="{FF2B5EF4-FFF2-40B4-BE49-F238E27FC236}">
                <a16:creationId xmlns:a16="http://schemas.microsoft.com/office/drawing/2014/main" id="{451AD1C1-2F9C-13B6-60E8-A855CD5A8C3F}"/>
              </a:ext>
            </a:extLst>
          </p:cNvPr>
          <p:cNvPicPr>
            <a:picLocks noGrp="1" noChangeAspect="1"/>
          </p:cNvPicPr>
          <p:nvPr>
            <p:ph idx="1"/>
          </p:nvPr>
        </p:nvPicPr>
        <p:blipFill>
          <a:blip r:embed="rId2"/>
          <a:stretch>
            <a:fillRect/>
          </a:stretch>
        </p:blipFill>
        <p:spPr>
          <a:xfrm>
            <a:off x="5546035" y="983974"/>
            <a:ext cx="6437475" cy="4721087"/>
          </a:xfrm>
          <a:prstGeom prst="rect">
            <a:avLst/>
          </a:prstGeom>
        </p:spPr>
      </p:pic>
      <p:sp>
        <p:nvSpPr>
          <p:cNvPr id="7" name="TextBox 6">
            <a:extLst>
              <a:ext uri="{FF2B5EF4-FFF2-40B4-BE49-F238E27FC236}">
                <a16:creationId xmlns:a16="http://schemas.microsoft.com/office/drawing/2014/main" id="{08B2C9B6-420C-FA28-F257-CA472FBEBC40}"/>
              </a:ext>
            </a:extLst>
          </p:cNvPr>
          <p:cNvSpPr txBox="1"/>
          <p:nvPr/>
        </p:nvSpPr>
        <p:spPr>
          <a:xfrm>
            <a:off x="337930" y="1133061"/>
            <a:ext cx="5059018" cy="1754326"/>
          </a:xfrm>
          <a:prstGeom prst="rect">
            <a:avLst/>
          </a:prstGeom>
          <a:noFill/>
        </p:spPr>
        <p:txBody>
          <a:bodyPr wrap="square" rtlCol="0">
            <a:spAutoFit/>
          </a:bodyPr>
          <a:lstStyle/>
          <a:p>
            <a:r>
              <a:rPr lang="en-US" dirty="0"/>
              <a:t>If n is not 2 then it will probably be 3 so we calculate the 3x3 determinant in else statement. For 3x3 determinant we chose a number ‘a’ then find 2x2 matrix of only those elements which are not in the same row or column as ‘a’ and then we multiply the determinant by ‘a’</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B709424-975E-2B46-27C0-8B75E8A4B645}"/>
                  </a:ext>
                </a:extLst>
              </p14:cNvPr>
              <p14:cNvContentPartPr/>
              <p14:nvPr/>
            </p14:nvContentPartPr>
            <p14:xfrm>
              <a:off x="2494565" y="4581548"/>
              <a:ext cx="360" cy="360"/>
            </p14:xfrm>
          </p:contentPart>
        </mc:Choice>
        <mc:Fallback>
          <p:pic>
            <p:nvPicPr>
              <p:cNvPr id="3" name="Ink 2">
                <a:extLst>
                  <a:ext uri="{FF2B5EF4-FFF2-40B4-BE49-F238E27FC236}">
                    <a16:creationId xmlns:a16="http://schemas.microsoft.com/office/drawing/2014/main" id="{DB709424-975E-2B46-27C0-8B75E8A4B645}"/>
                  </a:ext>
                </a:extLst>
              </p:cNvPr>
              <p:cNvPicPr/>
              <p:nvPr/>
            </p:nvPicPr>
            <p:blipFill>
              <a:blip r:embed="rId4"/>
              <a:stretch>
                <a:fillRect/>
              </a:stretch>
            </p:blipFill>
            <p:spPr>
              <a:xfrm>
                <a:off x="2488445" y="4575428"/>
                <a:ext cx="12600" cy="12600"/>
              </a:xfrm>
              <a:prstGeom prst="rect">
                <a:avLst/>
              </a:prstGeom>
            </p:spPr>
          </p:pic>
        </mc:Fallback>
      </mc:AlternateContent>
      <p:pic>
        <p:nvPicPr>
          <p:cNvPr id="23" name="Picture 22">
            <a:extLst>
              <a:ext uri="{FF2B5EF4-FFF2-40B4-BE49-F238E27FC236}">
                <a16:creationId xmlns:a16="http://schemas.microsoft.com/office/drawing/2014/main" id="{663A86BB-13B5-CA21-779B-FD34BFEC9E34}"/>
              </a:ext>
            </a:extLst>
          </p:cNvPr>
          <p:cNvPicPr>
            <a:picLocks noChangeAspect="1"/>
          </p:cNvPicPr>
          <p:nvPr/>
        </p:nvPicPr>
        <p:blipFill>
          <a:blip r:embed="rId5"/>
          <a:stretch>
            <a:fillRect/>
          </a:stretch>
        </p:blipFill>
        <p:spPr>
          <a:xfrm>
            <a:off x="944217" y="3548271"/>
            <a:ext cx="3240157" cy="2246242"/>
          </a:xfrm>
          <a:prstGeom prst="rect">
            <a:avLst/>
          </a:prstGeom>
        </p:spPr>
      </p:pic>
      <mc:AlternateContent xmlns:mc="http://schemas.openxmlformats.org/markup-compatibility/2006">
        <mc:Choice xmlns:p14="http://schemas.microsoft.com/office/powerpoint/2010/main" Requires="p14">
          <p:contentPart p14:bwMode="auto" r:id="rId6">
            <p14:nvContentPartPr>
              <p14:cNvPr id="24" name="Ink 23">
                <a:extLst>
                  <a:ext uri="{FF2B5EF4-FFF2-40B4-BE49-F238E27FC236}">
                    <a16:creationId xmlns:a16="http://schemas.microsoft.com/office/drawing/2014/main" id="{C591B50D-3447-CFD4-9C0A-09BFF999DBE9}"/>
                  </a:ext>
                </a:extLst>
              </p14:cNvPr>
              <p14:cNvContentPartPr/>
              <p14:nvPr/>
            </p14:nvContentPartPr>
            <p14:xfrm>
              <a:off x="2384765" y="3876136"/>
              <a:ext cx="60840" cy="1270800"/>
            </p14:xfrm>
          </p:contentPart>
        </mc:Choice>
        <mc:Fallback>
          <p:pic>
            <p:nvPicPr>
              <p:cNvPr id="24" name="Ink 23">
                <a:extLst>
                  <a:ext uri="{FF2B5EF4-FFF2-40B4-BE49-F238E27FC236}">
                    <a16:creationId xmlns:a16="http://schemas.microsoft.com/office/drawing/2014/main" id="{C591B50D-3447-CFD4-9C0A-09BFF999DBE9}"/>
                  </a:ext>
                </a:extLst>
              </p:cNvPr>
              <p:cNvPicPr/>
              <p:nvPr/>
            </p:nvPicPr>
            <p:blipFill>
              <a:blip r:embed="rId7"/>
              <a:stretch>
                <a:fillRect/>
              </a:stretch>
            </p:blipFill>
            <p:spPr>
              <a:xfrm>
                <a:off x="2378645" y="3870016"/>
                <a:ext cx="73080" cy="1283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5" name="Ink 24">
                <a:extLst>
                  <a:ext uri="{FF2B5EF4-FFF2-40B4-BE49-F238E27FC236}">
                    <a16:creationId xmlns:a16="http://schemas.microsoft.com/office/drawing/2014/main" id="{3477E59A-5FB5-475B-4501-7D578D1E1219}"/>
                  </a:ext>
                </a:extLst>
              </p14:cNvPr>
              <p14:cNvContentPartPr/>
              <p14:nvPr/>
            </p14:nvContentPartPr>
            <p14:xfrm>
              <a:off x="2335805" y="4303096"/>
              <a:ext cx="1014840" cy="20520"/>
            </p14:xfrm>
          </p:contentPart>
        </mc:Choice>
        <mc:Fallback>
          <p:pic>
            <p:nvPicPr>
              <p:cNvPr id="25" name="Ink 24">
                <a:extLst>
                  <a:ext uri="{FF2B5EF4-FFF2-40B4-BE49-F238E27FC236}">
                    <a16:creationId xmlns:a16="http://schemas.microsoft.com/office/drawing/2014/main" id="{3477E59A-5FB5-475B-4501-7D578D1E1219}"/>
                  </a:ext>
                </a:extLst>
              </p:cNvPr>
              <p:cNvPicPr/>
              <p:nvPr/>
            </p:nvPicPr>
            <p:blipFill>
              <a:blip r:embed="rId9"/>
              <a:stretch>
                <a:fillRect/>
              </a:stretch>
            </p:blipFill>
            <p:spPr>
              <a:xfrm>
                <a:off x="2329685" y="4296976"/>
                <a:ext cx="102708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6" name="Ink 25">
                <a:extLst>
                  <a:ext uri="{FF2B5EF4-FFF2-40B4-BE49-F238E27FC236}">
                    <a16:creationId xmlns:a16="http://schemas.microsoft.com/office/drawing/2014/main" id="{B81D2163-2703-8F27-5E28-A99139A273B1}"/>
                  </a:ext>
                </a:extLst>
              </p14:cNvPr>
              <p14:cNvContentPartPr/>
              <p14:nvPr/>
            </p14:nvContentPartPr>
            <p14:xfrm>
              <a:off x="-1520875" y="2891896"/>
              <a:ext cx="360" cy="360"/>
            </p14:xfrm>
          </p:contentPart>
        </mc:Choice>
        <mc:Fallback>
          <p:pic>
            <p:nvPicPr>
              <p:cNvPr id="26" name="Ink 25">
                <a:extLst>
                  <a:ext uri="{FF2B5EF4-FFF2-40B4-BE49-F238E27FC236}">
                    <a16:creationId xmlns:a16="http://schemas.microsoft.com/office/drawing/2014/main" id="{B81D2163-2703-8F27-5E28-A99139A273B1}"/>
                  </a:ext>
                </a:extLst>
              </p:cNvPr>
              <p:cNvPicPr/>
              <p:nvPr/>
            </p:nvPicPr>
            <p:blipFill>
              <a:blip r:embed="rId11"/>
              <a:stretch>
                <a:fillRect/>
              </a:stretch>
            </p:blipFill>
            <p:spPr>
              <a:xfrm>
                <a:off x="-1526995" y="2885776"/>
                <a:ext cx="12600" cy="12600"/>
              </a:xfrm>
              <a:prstGeom prst="rect">
                <a:avLst/>
              </a:prstGeom>
            </p:spPr>
          </p:pic>
        </mc:Fallback>
      </mc:AlternateContent>
      <p:grpSp>
        <p:nvGrpSpPr>
          <p:cNvPr id="29" name="Group 28">
            <a:extLst>
              <a:ext uri="{FF2B5EF4-FFF2-40B4-BE49-F238E27FC236}">
                <a16:creationId xmlns:a16="http://schemas.microsoft.com/office/drawing/2014/main" id="{6D3C8194-13FD-AE00-85A0-92893F4B2439}"/>
              </a:ext>
            </a:extLst>
          </p:cNvPr>
          <p:cNvGrpSpPr/>
          <p:nvPr/>
        </p:nvGrpSpPr>
        <p:grpSpPr>
          <a:xfrm>
            <a:off x="2743325" y="4561576"/>
            <a:ext cx="286200" cy="259920"/>
            <a:chOff x="2743325" y="4561576"/>
            <a:chExt cx="286200" cy="259920"/>
          </a:xfrm>
        </p:grpSpPr>
        <mc:AlternateContent xmlns:mc="http://schemas.openxmlformats.org/markup-compatibility/2006">
          <mc:Choice xmlns:p14="http://schemas.microsoft.com/office/powerpoint/2010/main" Requires="p14">
            <p:contentPart p14:bwMode="auto" r:id="rId12">
              <p14:nvContentPartPr>
                <p14:cNvPr id="27" name="Ink 26">
                  <a:extLst>
                    <a:ext uri="{FF2B5EF4-FFF2-40B4-BE49-F238E27FC236}">
                      <a16:creationId xmlns:a16="http://schemas.microsoft.com/office/drawing/2014/main" id="{C7EB6923-8443-2FA6-E3F8-B96D86AB9C5D}"/>
                    </a:ext>
                  </a:extLst>
                </p14:cNvPr>
                <p14:cNvContentPartPr/>
                <p14:nvPr/>
              </p14:nvContentPartPr>
              <p14:xfrm>
                <a:off x="2743325" y="4591816"/>
                <a:ext cx="286200" cy="201600"/>
              </p14:xfrm>
            </p:contentPart>
          </mc:Choice>
          <mc:Fallback>
            <p:pic>
              <p:nvPicPr>
                <p:cNvPr id="27" name="Ink 26">
                  <a:extLst>
                    <a:ext uri="{FF2B5EF4-FFF2-40B4-BE49-F238E27FC236}">
                      <a16:creationId xmlns:a16="http://schemas.microsoft.com/office/drawing/2014/main" id="{C7EB6923-8443-2FA6-E3F8-B96D86AB9C5D}"/>
                    </a:ext>
                  </a:extLst>
                </p:cNvPr>
                <p:cNvPicPr/>
                <p:nvPr/>
              </p:nvPicPr>
              <p:blipFill>
                <a:blip r:embed="rId13"/>
                <a:stretch>
                  <a:fillRect/>
                </a:stretch>
              </p:blipFill>
              <p:spPr>
                <a:xfrm>
                  <a:off x="2737205" y="4585696"/>
                  <a:ext cx="29844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8" name="Ink 27">
                  <a:extLst>
                    <a:ext uri="{FF2B5EF4-FFF2-40B4-BE49-F238E27FC236}">
                      <a16:creationId xmlns:a16="http://schemas.microsoft.com/office/drawing/2014/main" id="{2674D11D-8D86-A8C2-C88C-D4CCD97836D5}"/>
                    </a:ext>
                  </a:extLst>
                </p14:cNvPr>
                <p14:cNvContentPartPr/>
                <p14:nvPr/>
              </p14:nvContentPartPr>
              <p14:xfrm>
                <a:off x="2782565" y="4561576"/>
                <a:ext cx="199800" cy="259920"/>
              </p14:xfrm>
            </p:contentPart>
          </mc:Choice>
          <mc:Fallback>
            <p:pic>
              <p:nvPicPr>
                <p:cNvPr id="28" name="Ink 27">
                  <a:extLst>
                    <a:ext uri="{FF2B5EF4-FFF2-40B4-BE49-F238E27FC236}">
                      <a16:creationId xmlns:a16="http://schemas.microsoft.com/office/drawing/2014/main" id="{2674D11D-8D86-A8C2-C88C-D4CCD97836D5}"/>
                    </a:ext>
                  </a:extLst>
                </p:cNvPr>
                <p:cNvPicPr/>
                <p:nvPr/>
              </p:nvPicPr>
              <p:blipFill>
                <a:blip r:embed="rId15"/>
                <a:stretch>
                  <a:fillRect/>
                </a:stretch>
              </p:blipFill>
              <p:spPr>
                <a:xfrm>
                  <a:off x="2776445" y="4555456"/>
                  <a:ext cx="212040" cy="272160"/>
                </a:xfrm>
                <a:prstGeom prst="rect">
                  <a:avLst/>
                </a:prstGeom>
              </p:spPr>
            </p:pic>
          </mc:Fallback>
        </mc:AlternateContent>
      </p:grpSp>
    </p:spTree>
    <p:extLst>
      <p:ext uri="{BB962C8B-B14F-4D97-AF65-F5344CB8AC3E}">
        <p14:creationId xmlns:p14="http://schemas.microsoft.com/office/powerpoint/2010/main" val="3073588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1A7C37-3825-F250-3C2E-E9F4CA14189A}"/>
              </a:ext>
            </a:extLst>
          </p:cNvPr>
          <p:cNvSpPr txBox="1"/>
          <p:nvPr/>
        </p:nvSpPr>
        <p:spPr>
          <a:xfrm>
            <a:off x="655983" y="467139"/>
            <a:ext cx="11121887" cy="3970318"/>
          </a:xfrm>
          <a:prstGeom prst="rect">
            <a:avLst/>
          </a:prstGeom>
          <a:noFill/>
        </p:spPr>
        <p:txBody>
          <a:bodyPr wrap="square" rtlCol="0">
            <a:spAutoFit/>
          </a:bodyPr>
          <a:lstStyle/>
          <a:p>
            <a:r>
              <a:rPr lang="en-US" dirty="0"/>
              <a:t>A[0][0] = 3</a:t>
            </a:r>
          </a:p>
          <a:p>
            <a:r>
              <a:rPr lang="en-US" dirty="0"/>
              <a:t>A[0][1] = 4</a:t>
            </a:r>
          </a:p>
          <a:p>
            <a:r>
              <a:rPr lang="en-US" dirty="0"/>
              <a:t>A[0][2] = 6</a:t>
            </a:r>
          </a:p>
          <a:p>
            <a:r>
              <a:rPr lang="en-US" dirty="0"/>
              <a:t>A[1][0] = 4</a:t>
            </a:r>
          </a:p>
          <a:p>
            <a:r>
              <a:rPr lang="en-US" dirty="0"/>
              <a:t>A[1][1] = 5</a:t>
            </a:r>
          </a:p>
          <a:p>
            <a:r>
              <a:rPr lang="en-US" dirty="0"/>
              <a:t>A[1][2] = 7</a:t>
            </a:r>
          </a:p>
          <a:p>
            <a:r>
              <a:rPr lang="en-US" dirty="0"/>
              <a:t>A[2][0] = 5</a:t>
            </a:r>
          </a:p>
          <a:p>
            <a:r>
              <a:rPr lang="en-US" dirty="0"/>
              <a:t>A[2][1] = 3</a:t>
            </a:r>
          </a:p>
          <a:p>
            <a:r>
              <a:rPr lang="en-US" dirty="0"/>
              <a:t>A[2][2] = 1 </a:t>
            </a:r>
          </a:p>
          <a:p>
            <a:r>
              <a:rPr lang="pt-BR" dirty="0"/>
              <a:t>a[0][0]*(a[1][1]*a[2][2]-a[1][2]*a[2][1]) = 3x(5x1-7x3) = 3(5-21) = 3(-16) = -48</a:t>
            </a:r>
          </a:p>
          <a:p>
            <a:r>
              <a:rPr lang="pt-BR" dirty="0"/>
              <a:t>- a[0][1]*(a[1][0]*a[2][2]-a[1][2]*a[2][0]) = 4x(4x1-7x5) = 4(4-35) =-4(-29) = 116</a:t>
            </a:r>
          </a:p>
          <a:p>
            <a:r>
              <a:rPr lang="pt-BR" dirty="0"/>
              <a:t>+ a[0][2]*(a[1][0]*a[2][1]-a[1][1]*a[2][0]) = 6(4x3-5x5) = 6(12-25) =6(13) = 78 </a:t>
            </a:r>
          </a:p>
          <a:p>
            <a:endParaRPr lang="pt-BR" dirty="0"/>
          </a:p>
          <a:p>
            <a:r>
              <a:rPr lang="pt-BR" dirty="0"/>
              <a:t>Det = -48 + 116 +78 = 146</a:t>
            </a:r>
            <a:endParaRPr lang="en-US" dirty="0"/>
          </a:p>
        </p:txBody>
      </p:sp>
    </p:spTree>
    <p:extLst>
      <p:ext uri="{BB962C8B-B14F-4D97-AF65-F5344CB8AC3E}">
        <p14:creationId xmlns:p14="http://schemas.microsoft.com/office/powerpoint/2010/main" val="67288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E2881-3B3B-F8F7-D485-881E7FCDE569}"/>
              </a:ext>
            </a:extLst>
          </p:cNvPr>
          <p:cNvSpPr>
            <a:spLocks noGrp="1"/>
          </p:cNvSpPr>
          <p:nvPr>
            <p:ph type="title"/>
          </p:nvPr>
        </p:nvSpPr>
        <p:spPr/>
        <p:txBody>
          <a:bodyPr/>
          <a:lstStyle/>
          <a:p>
            <a:r>
              <a:rPr lang="en-US" dirty="0"/>
              <a:t>The End</a:t>
            </a:r>
          </a:p>
        </p:txBody>
      </p:sp>
      <p:sp>
        <p:nvSpPr>
          <p:cNvPr id="3" name="Content Placeholder 2">
            <a:extLst>
              <a:ext uri="{FF2B5EF4-FFF2-40B4-BE49-F238E27FC236}">
                <a16:creationId xmlns:a16="http://schemas.microsoft.com/office/drawing/2014/main" id="{D3965CB1-2B33-7085-EE2C-72294BCCFB6C}"/>
              </a:ext>
            </a:extLst>
          </p:cNvPr>
          <p:cNvSpPr>
            <a:spLocks noGrp="1"/>
          </p:cNvSpPr>
          <p:nvPr>
            <p:ph idx="1"/>
          </p:nvPr>
        </p:nvSpPr>
        <p:spPr/>
        <p:txBody>
          <a:bodyPr/>
          <a:lstStyle/>
          <a:p>
            <a:r>
              <a:rPr lang="en-US" dirty="0"/>
              <a:t>In the end we have default statement that if choice </a:t>
            </a:r>
            <a:r>
              <a:rPr lang="en-US" dirty="0" err="1"/>
              <a:t>dosent</a:t>
            </a:r>
            <a:r>
              <a:rPr lang="en-US" dirty="0"/>
              <a:t> matches any case it displays the invalid choice and our program ends</a:t>
            </a:r>
          </a:p>
        </p:txBody>
      </p:sp>
      <p:pic>
        <p:nvPicPr>
          <p:cNvPr id="5" name="Picture 4">
            <a:extLst>
              <a:ext uri="{FF2B5EF4-FFF2-40B4-BE49-F238E27FC236}">
                <a16:creationId xmlns:a16="http://schemas.microsoft.com/office/drawing/2014/main" id="{438032E4-5D62-519B-EEE2-1C2A573B4B22}"/>
              </a:ext>
            </a:extLst>
          </p:cNvPr>
          <p:cNvPicPr>
            <a:picLocks noChangeAspect="1"/>
          </p:cNvPicPr>
          <p:nvPr/>
        </p:nvPicPr>
        <p:blipFill>
          <a:blip r:embed="rId2"/>
          <a:stretch>
            <a:fillRect/>
          </a:stretch>
        </p:blipFill>
        <p:spPr>
          <a:xfrm>
            <a:off x="1918252" y="3110948"/>
            <a:ext cx="7285383" cy="2395330"/>
          </a:xfrm>
          <a:prstGeom prst="rect">
            <a:avLst/>
          </a:prstGeom>
        </p:spPr>
      </p:pic>
    </p:spTree>
    <p:extLst>
      <p:ext uri="{BB962C8B-B14F-4D97-AF65-F5344CB8AC3E}">
        <p14:creationId xmlns:p14="http://schemas.microsoft.com/office/powerpoint/2010/main" val="27086285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406</TotalTime>
  <Words>2349</Words>
  <Application>Microsoft Office PowerPoint</Application>
  <PresentationFormat>Widescreen</PresentationFormat>
  <Paragraphs>243</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Tw Cen MT</vt:lpstr>
      <vt:lpstr>Tw Cen MT Condensed</vt:lpstr>
      <vt:lpstr>Wingdings 3</vt:lpstr>
      <vt:lpstr>Integral</vt:lpstr>
      <vt:lpstr>Matrix Calculator</vt:lpstr>
      <vt:lpstr>Contents</vt:lpstr>
      <vt:lpstr>Matrix</vt:lpstr>
      <vt:lpstr>Why do we use matrices</vt:lpstr>
      <vt:lpstr>Matrix Operations in CCP</vt:lpstr>
      <vt:lpstr>Matrix Addition</vt:lpstr>
      <vt:lpstr>Matrix Subtraction</vt:lpstr>
      <vt:lpstr>Matrix Multiplication</vt:lpstr>
      <vt:lpstr>PowerPoint Presentation</vt:lpstr>
      <vt:lpstr>Transpose of a Matrix</vt:lpstr>
      <vt:lpstr>PowerPoint Presentation</vt:lpstr>
      <vt:lpstr>Determinant of a Matrix</vt:lpstr>
      <vt:lpstr>PowerPoint Presentation</vt:lpstr>
      <vt:lpstr>PowerPoint Presentation</vt:lpstr>
      <vt:lpstr>PowerPoint Presentation</vt:lpstr>
      <vt:lpstr>Algorithm</vt:lpstr>
      <vt:lpstr>PowerPoint Presentation</vt:lpstr>
      <vt:lpstr>PowerPoint Presentation</vt:lpstr>
      <vt:lpstr>The Program</vt:lpstr>
      <vt:lpstr>Declaring the elements</vt:lpstr>
      <vt:lpstr>Showing the Matrices </vt:lpstr>
      <vt:lpstr>Operations</vt:lpstr>
      <vt:lpstr>Addition</vt:lpstr>
      <vt:lpstr>Subtraction</vt:lpstr>
      <vt:lpstr>Multiplication</vt:lpstr>
      <vt:lpstr>PowerPoint Presentation</vt:lpstr>
      <vt:lpstr>Transpose</vt:lpstr>
      <vt:lpstr>PowerPoint Presentation</vt:lpstr>
      <vt:lpstr>Determinant (3x3)</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5</cp:revision>
  <dcterms:created xsi:type="dcterms:W3CDTF">2025-11-08T11:10:36Z</dcterms:created>
  <dcterms:modified xsi:type="dcterms:W3CDTF">2025-11-09T16:25:14Z</dcterms:modified>
</cp:coreProperties>
</file>